
<file path=[Content_Types].xml><?xml version="1.0" encoding="utf-8"?>
<Types xmlns="http://schemas.openxmlformats.org/package/2006/content-types">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59" r:id="rId4"/>
    <p:sldId id="257" r:id="rId5"/>
    <p:sldId id="267"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247000FF-58C9-4D81-9885-D207CC31A6BC}" type="datetimeFigureOut">
              <a:rPr lang="en-US" smtClean="0"/>
              <a:t>3/5/2014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A11268E-829D-4EAD-BEA3-10D845902C7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247000FF-58C9-4D81-9885-D207CC31A6BC}" type="datetimeFigureOut">
              <a:rPr lang="en-US" smtClean="0"/>
              <a:t>3/5/2014</a:t>
            </a:fld>
            <a:endParaRPr lang="en-US"/>
          </a:p>
        </p:txBody>
      </p:sp>
      <p:sp>
        <p:nvSpPr>
          <p:cNvPr id="9" name="Slide Number Placeholder 8"/>
          <p:cNvSpPr>
            <a:spLocks noGrp="1"/>
          </p:cNvSpPr>
          <p:nvPr>
            <p:ph type="sldNum" sz="quarter" idx="15"/>
          </p:nvPr>
        </p:nvSpPr>
        <p:spPr/>
        <p:txBody>
          <a:bodyPr rtlCol="0"/>
          <a:lstStyle/>
          <a:p>
            <a:fld id="{3A11268E-829D-4EAD-BEA3-10D845902C79}"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247000FF-58C9-4D81-9885-D207CC31A6BC}" type="datetimeFigureOut">
              <a:rPr lang="en-US" smtClean="0"/>
              <a:t>3/5/2014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A11268E-829D-4EAD-BEA3-10D845902C7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47000FF-58C9-4D81-9885-D207CC31A6BC}" type="datetimeFigureOut">
              <a:rPr lang="en-US" smtClean="0"/>
              <a:t>3/5/2014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1268E-829D-4EAD-BEA3-10D845902C79}"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247000FF-58C9-4D81-9885-D207CC31A6BC}" type="datetimeFigureOut">
              <a:rPr lang="en-US" smtClean="0"/>
              <a:t>3/5/2014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11268E-829D-4EAD-BEA3-10D845902C79}"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47000FF-58C9-4D81-9885-D207CC31A6BC}" type="datetimeFigureOut">
              <a:rPr lang="en-US" smtClean="0"/>
              <a:t>3/5/2014</a:t>
            </a:fld>
            <a:endParaRPr lang="en-US"/>
          </a:p>
        </p:txBody>
      </p:sp>
      <p:sp>
        <p:nvSpPr>
          <p:cNvPr id="7" name="Slide Number Placeholder 6"/>
          <p:cNvSpPr>
            <a:spLocks noGrp="1"/>
          </p:cNvSpPr>
          <p:nvPr>
            <p:ph type="sldNum" sz="quarter" idx="11"/>
          </p:nvPr>
        </p:nvSpPr>
        <p:spPr/>
        <p:txBody>
          <a:bodyPr rtlCol="0"/>
          <a:lstStyle/>
          <a:p>
            <a:fld id="{3A11268E-829D-4EAD-BEA3-10D845902C79}"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000FF-58C9-4D81-9885-D207CC31A6BC}" type="datetimeFigureOut">
              <a:rPr lang="en-US" smtClean="0"/>
              <a:t>3/5/2014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11268E-829D-4EAD-BEA3-10D845902C7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247000FF-58C9-4D81-9885-D207CC31A6BC}" type="datetimeFigureOut">
              <a:rPr lang="en-US" smtClean="0"/>
              <a:t>3/5/2014</a:t>
            </a:fld>
            <a:endParaRPr lang="en-US"/>
          </a:p>
        </p:txBody>
      </p:sp>
      <p:sp>
        <p:nvSpPr>
          <p:cNvPr id="22" name="Slide Number Placeholder 21"/>
          <p:cNvSpPr>
            <a:spLocks noGrp="1"/>
          </p:cNvSpPr>
          <p:nvPr>
            <p:ph type="sldNum" sz="quarter" idx="15"/>
          </p:nvPr>
        </p:nvSpPr>
        <p:spPr/>
        <p:txBody>
          <a:bodyPr rtlCol="0"/>
          <a:lstStyle/>
          <a:p>
            <a:fld id="{3A11268E-829D-4EAD-BEA3-10D845902C79}"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247000FF-58C9-4D81-9885-D207CC31A6BC}" type="datetimeFigureOut">
              <a:rPr lang="en-US" smtClean="0"/>
              <a:t>3/5/2014</a:t>
            </a:fld>
            <a:endParaRPr lang="en-US"/>
          </a:p>
        </p:txBody>
      </p:sp>
      <p:sp>
        <p:nvSpPr>
          <p:cNvPr id="18" name="Slide Number Placeholder 17"/>
          <p:cNvSpPr>
            <a:spLocks noGrp="1"/>
          </p:cNvSpPr>
          <p:nvPr>
            <p:ph type="sldNum" sz="quarter" idx="11"/>
          </p:nvPr>
        </p:nvSpPr>
        <p:spPr/>
        <p:txBody>
          <a:bodyPr rtlCol="0"/>
          <a:lstStyle/>
          <a:p>
            <a:fld id="{3A11268E-829D-4EAD-BEA3-10D845902C79}"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47000FF-58C9-4D81-9885-D207CC31A6BC}" type="datetimeFigureOut">
              <a:rPr lang="en-US" smtClean="0"/>
              <a:t>3/5/2014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1268E-829D-4EAD-BEA3-10D845902C7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47000FF-58C9-4D81-9885-D207CC31A6BC}" type="datetimeFigureOut">
              <a:rPr lang="en-US" smtClean="0"/>
              <a:t>3/5/2014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1268E-829D-4EAD-BEA3-10D845902C7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47000FF-58C9-4D81-9885-D207CC31A6BC}" type="datetimeFigureOut">
              <a:rPr lang="en-US" smtClean="0"/>
              <a:t>3/5/2014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A11268E-829D-4EAD-BEA3-10D845902C7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xcel_97-2003_Worksheet1.xls"/><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xcel_97-2003_Worksheet2.xls"/><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DMM Metrics and Data Collection Format</a:t>
            </a:r>
            <a:endParaRPr lang="en-US" dirty="0"/>
          </a:p>
        </p:txBody>
      </p:sp>
    </p:spTree>
    <p:extLst>
      <p:ext uri="{BB962C8B-B14F-4D97-AF65-F5344CB8AC3E}">
        <p14:creationId xmlns:p14="http://schemas.microsoft.com/office/powerpoint/2010/main" val="407335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Importance and Need for Reporting</a:t>
            </a:r>
            <a:endParaRPr lang="en-US" sz="3600" dirty="0"/>
          </a:p>
        </p:txBody>
      </p:sp>
      <p:sp>
        <p:nvSpPr>
          <p:cNvPr id="3" name="Content Placeholder 2"/>
          <p:cNvSpPr>
            <a:spLocks noGrp="1"/>
          </p:cNvSpPr>
          <p:nvPr>
            <p:ph sz="quarter" idx="1"/>
          </p:nvPr>
        </p:nvSpPr>
        <p:spPr/>
        <p:txBody>
          <a:bodyPr>
            <a:normAutofit/>
          </a:bodyPr>
          <a:lstStyle/>
          <a:p>
            <a:r>
              <a:rPr lang="en-US" sz="2400" dirty="0" smtClean="0"/>
              <a:t>1. To inform people of what God is doing through the DMM so that people could praise the Lord and commit themselves to support or engage in DMM; </a:t>
            </a:r>
          </a:p>
          <a:p>
            <a:r>
              <a:rPr lang="en-US" sz="2400" dirty="0" smtClean="0"/>
              <a:t>2. To inform people of the challenges, persecutions happening so that people could pray; </a:t>
            </a:r>
          </a:p>
          <a:p>
            <a:r>
              <a:rPr lang="en-US" sz="2400" dirty="0" smtClean="0"/>
              <a:t>3. For accountability, to their ministry team, to their supporters; </a:t>
            </a:r>
          </a:p>
          <a:p>
            <a:r>
              <a:rPr lang="en-US" sz="2400" dirty="0" smtClean="0"/>
              <a:t>4. For tracking the DMM process, to know if replication is happening or not and if it is not happening to know the reason.</a:t>
            </a:r>
            <a:endParaRPr lang="en-US" sz="2400" dirty="0"/>
          </a:p>
        </p:txBody>
      </p:sp>
    </p:spTree>
    <p:extLst>
      <p:ext uri="{BB962C8B-B14F-4D97-AF65-F5344CB8AC3E}">
        <p14:creationId xmlns:p14="http://schemas.microsoft.com/office/powerpoint/2010/main" val="1662384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Cityteam Reporting Format</a:t>
            </a:r>
            <a:endParaRPr lang="en-US" dirty="0"/>
          </a:p>
        </p:txBody>
      </p:sp>
      <p:sp>
        <p:nvSpPr>
          <p:cNvPr id="3" name="Content Placeholder 2"/>
          <p:cNvSpPr>
            <a:spLocks noGrp="1"/>
          </p:cNvSpPr>
          <p:nvPr>
            <p:ph sz="quarter" idx="1"/>
          </p:nvPr>
        </p:nvSpPr>
        <p:spPr/>
        <p:txBody>
          <a:bodyPr/>
          <a:lstStyle/>
          <a:p>
            <a:r>
              <a:rPr lang="en-US" dirty="0" smtClean="0"/>
              <a:t>1. Activities Report (Including Case stories/testimonies)</a:t>
            </a:r>
          </a:p>
          <a:p>
            <a:r>
              <a:rPr lang="en-US" dirty="0" smtClean="0"/>
              <a:t>2. Numerical Report</a:t>
            </a:r>
          </a:p>
          <a:p>
            <a:r>
              <a:rPr lang="en-US" dirty="0" smtClean="0"/>
              <a:t>3. Persecution Report</a:t>
            </a:r>
            <a:endParaRPr lang="en-US" dirty="0"/>
          </a:p>
        </p:txBody>
      </p:sp>
    </p:spTree>
    <p:extLst>
      <p:ext uri="{BB962C8B-B14F-4D97-AF65-F5344CB8AC3E}">
        <p14:creationId xmlns:p14="http://schemas.microsoft.com/office/powerpoint/2010/main" val="869598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3829145783"/>
              </p:ext>
            </p:extLst>
          </p:nvPr>
        </p:nvGraphicFramePr>
        <p:xfrm>
          <a:off x="76201" y="152400"/>
          <a:ext cx="8991600" cy="6477000"/>
        </p:xfrm>
        <a:graphic>
          <a:graphicData uri="http://schemas.openxmlformats.org/presentationml/2006/ole">
            <mc:AlternateContent xmlns:mc="http://schemas.openxmlformats.org/markup-compatibility/2006">
              <mc:Choice xmlns:v="urn:schemas-microsoft-com:vml" Requires="v">
                <p:oleObj spid="_x0000_s1041" name="Worksheet" r:id="rId3" imgW="11134791" imgH="11906230" progId="Excel.Sheet.8">
                  <p:embed/>
                </p:oleObj>
              </mc:Choice>
              <mc:Fallback>
                <p:oleObj name="Worksheet" r:id="rId3" imgW="11134791" imgH="11906230" progId="Excel.Sheet.8">
                  <p:embed/>
                  <p:pic>
                    <p:nvPicPr>
                      <p:cNvPr id="0" name=""/>
                      <p:cNvPicPr/>
                      <p:nvPr/>
                    </p:nvPicPr>
                    <p:blipFill>
                      <a:blip r:embed="rId4"/>
                      <a:stretch>
                        <a:fillRect/>
                      </a:stretch>
                    </p:blipFill>
                    <p:spPr>
                      <a:xfrm>
                        <a:off x="76201" y="152400"/>
                        <a:ext cx="8991600" cy="6477000"/>
                      </a:xfrm>
                      <a:prstGeom prst="rect">
                        <a:avLst/>
                      </a:prstGeom>
                    </p:spPr>
                  </p:pic>
                </p:oleObj>
              </mc:Fallback>
            </mc:AlternateContent>
          </a:graphicData>
        </a:graphic>
      </p:graphicFrame>
    </p:spTree>
    <p:extLst>
      <p:ext uri="{BB962C8B-B14F-4D97-AF65-F5344CB8AC3E}">
        <p14:creationId xmlns:p14="http://schemas.microsoft.com/office/powerpoint/2010/main" val="1508706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410311497"/>
              </p:ext>
            </p:extLst>
          </p:nvPr>
        </p:nvGraphicFramePr>
        <p:xfrm>
          <a:off x="74428" y="4932"/>
          <a:ext cx="8840972" cy="6700668"/>
        </p:xfrm>
        <a:graphic>
          <a:graphicData uri="http://schemas.openxmlformats.org/presentationml/2006/ole">
            <mc:AlternateContent xmlns:mc="http://schemas.openxmlformats.org/markup-compatibility/2006">
              <mc:Choice xmlns:v="urn:schemas-microsoft-com:vml" Requires="v">
                <p:oleObj spid="_x0000_s2053" name="Worksheet" r:id="rId3" imgW="8058275" imgH="5733929" progId="Excel.Sheet.8">
                  <p:embed/>
                </p:oleObj>
              </mc:Choice>
              <mc:Fallback>
                <p:oleObj name="Worksheet" r:id="rId3" imgW="8058275" imgH="5733929" progId="Excel.Sheet.8">
                  <p:embed/>
                  <p:pic>
                    <p:nvPicPr>
                      <p:cNvPr id="0" name=""/>
                      <p:cNvPicPr/>
                      <p:nvPr/>
                    </p:nvPicPr>
                    <p:blipFill>
                      <a:blip r:embed="rId4"/>
                      <a:stretch>
                        <a:fillRect/>
                      </a:stretch>
                    </p:blipFill>
                    <p:spPr>
                      <a:xfrm>
                        <a:off x="74428" y="4932"/>
                        <a:ext cx="8840972" cy="6700668"/>
                      </a:xfrm>
                      <a:prstGeom prst="rect">
                        <a:avLst/>
                      </a:prstGeom>
                    </p:spPr>
                  </p:pic>
                </p:oleObj>
              </mc:Fallback>
            </mc:AlternateContent>
          </a:graphicData>
        </a:graphic>
      </p:graphicFrame>
    </p:spTree>
    <p:extLst>
      <p:ext uri="{BB962C8B-B14F-4D97-AF65-F5344CB8AC3E}">
        <p14:creationId xmlns:p14="http://schemas.microsoft.com/office/powerpoint/2010/main" val="277616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Definitions of Data Points of Numerical format  </a:t>
            </a:r>
            <a:endParaRPr lang="en-US" sz="2400" dirty="0"/>
          </a:p>
        </p:txBody>
      </p:sp>
      <p:sp>
        <p:nvSpPr>
          <p:cNvPr id="3" name="Content Placeholder 2"/>
          <p:cNvSpPr>
            <a:spLocks noGrp="1"/>
          </p:cNvSpPr>
          <p:nvPr>
            <p:ph sz="quarter" idx="1"/>
          </p:nvPr>
        </p:nvSpPr>
        <p:spPr/>
        <p:txBody>
          <a:bodyPr>
            <a:normAutofit lnSpcReduction="10000"/>
          </a:bodyPr>
          <a:lstStyle/>
          <a:p>
            <a:pPr marL="0" indent="0">
              <a:buNone/>
            </a:pPr>
            <a:r>
              <a:rPr lang="en-US" sz="2000" b="1" dirty="0" smtClean="0"/>
              <a:t>                         People group/urban/other groups</a:t>
            </a:r>
            <a:r>
              <a:rPr lang="en-US" sz="2000" dirty="0" smtClean="0"/>
              <a:t>. </a:t>
            </a:r>
          </a:p>
          <a:p>
            <a:r>
              <a:rPr lang="en-US" sz="2000" i="1" dirty="0" smtClean="0"/>
              <a:t>People group</a:t>
            </a:r>
            <a:r>
              <a:rPr lang="en-US" sz="2000" dirty="0" smtClean="0"/>
              <a:t>- A significantly large grouping of individuals who perceive themselves to have a common affinity with one another. Cityteam follows the Joshua Project People Group list; so instead of using local name for the people group use the Joshua Project nomenclature for the people group (e.g. in Ethiopia </a:t>
            </a:r>
            <a:r>
              <a:rPr lang="en-US" sz="2000" dirty="0" err="1" smtClean="0"/>
              <a:t>Shoa</a:t>
            </a:r>
            <a:r>
              <a:rPr lang="en-US" sz="2000" dirty="0" smtClean="0"/>
              <a:t> Oromo is the local name while the equivalent name in Joshua Project is </a:t>
            </a:r>
            <a:r>
              <a:rPr lang="en-US" sz="2000" dirty="0" err="1" smtClean="0"/>
              <a:t>Tulema</a:t>
            </a:r>
            <a:r>
              <a:rPr lang="en-US" sz="2000" dirty="0" smtClean="0"/>
              <a:t> Oromo).</a:t>
            </a:r>
          </a:p>
          <a:p>
            <a:pPr marL="0" indent="0">
              <a:buNone/>
            </a:pPr>
            <a:endParaRPr lang="en-US" sz="2000" dirty="0" smtClean="0"/>
          </a:p>
          <a:p>
            <a:r>
              <a:rPr lang="en-US" sz="2000" i="1" dirty="0" smtClean="0"/>
              <a:t>Urban</a:t>
            </a:r>
            <a:r>
              <a:rPr lang="en-US" sz="2000" dirty="0" smtClean="0"/>
              <a:t>-are the towns or cities in a country in which DMM is happening. </a:t>
            </a:r>
          </a:p>
          <a:p>
            <a:pPr marL="0" indent="0">
              <a:buNone/>
            </a:pPr>
            <a:endParaRPr lang="en-US" sz="2000" dirty="0" smtClean="0"/>
          </a:p>
          <a:p>
            <a:r>
              <a:rPr lang="en-US" sz="2000" i="1" dirty="0" smtClean="0"/>
              <a:t>Other groups</a:t>
            </a:r>
            <a:r>
              <a:rPr lang="en-US" sz="2000" dirty="0" smtClean="0"/>
              <a:t>-categories that could not fall within the people group grouping or urban grouping; for example it could be DMM happening among a certain religious followers e.g. Orthodox Christians of Ethiopia.</a:t>
            </a:r>
          </a:p>
          <a:p>
            <a:endParaRPr lang="en-US" dirty="0"/>
          </a:p>
        </p:txBody>
      </p:sp>
    </p:spTree>
    <p:extLst>
      <p:ext uri="{BB962C8B-B14F-4D97-AF65-F5344CB8AC3E}">
        <p14:creationId xmlns:p14="http://schemas.microsoft.com/office/powerpoint/2010/main" val="2951008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sz="quarter" idx="1"/>
          </p:nvPr>
        </p:nvSpPr>
        <p:spPr/>
        <p:txBody>
          <a:bodyPr>
            <a:normAutofit fontScale="77500" lnSpcReduction="20000"/>
          </a:bodyPr>
          <a:lstStyle/>
          <a:p>
            <a:r>
              <a:rPr lang="en-US" sz="2600" i="1" dirty="0" smtClean="0"/>
              <a:t>Pre-church Discovery Bible Study Group (DBS)-</a:t>
            </a:r>
            <a:r>
              <a:rPr lang="en-US" sz="2600" dirty="0" smtClean="0"/>
              <a:t>a group of people meeting on a regular basis to study the Bible based on the format used by </a:t>
            </a:r>
            <a:r>
              <a:rPr lang="en-US" sz="2600" dirty="0" err="1" smtClean="0"/>
              <a:t>Cityteam’s</a:t>
            </a:r>
            <a:r>
              <a:rPr lang="en-US" sz="2600" dirty="0" smtClean="0"/>
              <a:t> DMM strategy. In many instances the number of Pre-church DBS is more than the planted churches for that report season</a:t>
            </a:r>
          </a:p>
          <a:p>
            <a:pPr marL="0" indent="0">
              <a:buNone/>
            </a:pPr>
            <a:endParaRPr lang="en-US" sz="2600" dirty="0" smtClean="0"/>
          </a:p>
          <a:p>
            <a:r>
              <a:rPr lang="en-US" sz="2600" i="1" dirty="0" smtClean="0"/>
              <a:t>A church</a:t>
            </a:r>
            <a:r>
              <a:rPr lang="en-US" sz="2600" dirty="0" smtClean="0"/>
              <a:t>-a body of baptized believers, who understand themselves as the body of Christ, that meet regularly for worship, studying the Bible, fellowship and service</a:t>
            </a:r>
          </a:p>
          <a:p>
            <a:pPr marL="0" indent="0">
              <a:buNone/>
            </a:pPr>
            <a:endParaRPr lang="en-US" sz="2600" dirty="0" smtClean="0"/>
          </a:p>
          <a:p>
            <a:r>
              <a:rPr lang="en-US" sz="2600" i="1" dirty="0" smtClean="0"/>
              <a:t>Commissioned Churches</a:t>
            </a:r>
            <a:r>
              <a:rPr lang="en-US" sz="2600" dirty="0" smtClean="0"/>
              <a:t>- Churches directly planted by a commissioned church planter</a:t>
            </a:r>
          </a:p>
          <a:p>
            <a:pPr marL="0" indent="0">
              <a:buNone/>
            </a:pPr>
            <a:endParaRPr lang="en-US" sz="2600" dirty="0" smtClean="0"/>
          </a:p>
          <a:p>
            <a:r>
              <a:rPr lang="en-US" sz="2600" i="1" dirty="0" smtClean="0"/>
              <a:t>Catalytic Churches</a:t>
            </a:r>
            <a:r>
              <a:rPr lang="en-US" sz="2600" dirty="0" smtClean="0"/>
              <a:t>- Churches planted by other than the commissioned church planter</a:t>
            </a:r>
          </a:p>
          <a:p>
            <a:endParaRPr lang="en-US" dirty="0"/>
          </a:p>
        </p:txBody>
      </p:sp>
    </p:spTree>
    <p:extLst>
      <p:ext uri="{BB962C8B-B14F-4D97-AF65-F5344CB8AC3E}">
        <p14:creationId xmlns:p14="http://schemas.microsoft.com/office/powerpoint/2010/main" val="3515796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sz="quarter" idx="1"/>
          </p:nvPr>
        </p:nvSpPr>
        <p:spPr/>
        <p:txBody>
          <a:bodyPr>
            <a:normAutofit fontScale="70000" lnSpcReduction="20000"/>
          </a:bodyPr>
          <a:lstStyle/>
          <a:p>
            <a:r>
              <a:rPr lang="en-US" i="1" dirty="0" smtClean="0"/>
              <a:t>Total churches planted</a:t>
            </a:r>
            <a:r>
              <a:rPr lang="en-US" dirty="0" smtClean="0"/>
              <a:t>-The sum of churches that have been planted through commissioning or catalytic method.</a:t>
            </a:r>
          </a:p>
          <a:p>
            <a:pPr marL="0" indent="0">
              <a:buNone/>
            </a:pPr>
            <a:endParaRPr lang="en-US" dirty="0" smtClean="0"/>
          </a:p>
          <a:p>
            <a:r>
              <a:rPr lang="en-US" i="1" dirty="0" smtClean="0"/>
              <a:t>Generation</a:t>
            </a:r>
            <a:r>
              <a:rPr lang="en-US" dirty="0" smtClean="0"/>
              <a:t>- A church planted by a church that preceded it. We need to fill the generation of each church planted. For example, if 10 churches are planted which may be 2 are first generation, 3 second, 3 third and 2 fourth we may fill in abbreviated way like the following:  1st=2,2nd =3, 3rd=3, 4th=2.</a:t>
            </a:r>
          </a:p>
          <a:p>
            <a:pPr marL="0" indent="0">
              <a:buNone/>
            </a:pPr>
            <a:endParaRPr lang="en-US" dirty="0" smtClean="0"/>
          </a:p>
          <a:p>
            <a:r>
              <a:rPr lang="en-US" i="1" dirty="0" smtClean="0"/>
              <a:t>New Disciples</a:t>
            </a:r>
            <a:r>
              <a:rPr lang="en-US" dirty="0" smtClean="0"/>
              <a:t>- Those persons that have become followers of Christ. </a:t>
            </a:r>
          </a:p>
          <a:p>
            <a:pPr marL="0" indent="0">
              <a:buNone/>
            </a:pPr>
            <a:endParaRPr lang="en-US" dirty="0" smtClean="0"/>
          </a:p>
          <a:p>
            <a:r>
              <a:rPr lang="en-US" i="1" dirty="0" smtClean="0"/>
              <a:t>New Baptized Disciples</a:t>
            </a:r>
            <a:r>
              <a:rPr lang="en-US" dirty="0" smtClean="0"/>
              <a:t>- Those that have been baptized. Number of new baptized disciples should be proportional to the number of new disciples. Example 50 new disciples and 30 or 40 newly baptized.  A bad reporting or a reporting that may need more clarification may be when the number of those baptized are very low as compared to the number of new disciples; example new disciples 50 and newly baptized 3.</a:t>
            </a:r>
          </a:p>
          <a:p>
            <a:endParaRPr lang="en-US" dirty="0"/>
          </a:p>
        </p:txBody>
      </p:sp>
    </p:spTree>
    <p:extLst>
      <p:ext uri="{BB962C8B-B14F-4D97-AF65-F5344CB8AC3E}">
        <p14:creationId xmlns:p14="http://schemas.microsoft.com/office/powerpoint/2010/main" val="2959567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sz="quarter" idx="1"/>
          </p:nvPr>
        </p:nvSpPr>
        <p:spPr/>
        <p:txBody>
          <a:bodyPr>
            <a:normAutofit fontScale="40000" lnSpcReduction="20000"/>
          </a:bodyPr>
          <a:lstStyle/>
          <a:p>
            <a:r>
              <a:rPr lang="en-US" sz="3400" i="1" dirty="0" smtClean="0"/>
              <a:t>Primary Religious Background-</a:t>
            </a:r>
            <a:r>
              <a:rPr lang="en-US" sz="3400" dirty="0" smtClean="0"/>
              <a:t> The religion that is followed by more than 50% of the people group/urban/others. This can be obtained from Joshua Project website.</a:t>
            </a:r>
          </a:p>
          <a:p>
            <a:endParaRPr lang="en-US" sz="3400" dirty="0" smtClean="0"/>
          </a:p>
          <a:p>
            <a:r>
              <a:rPr lang="en-US" sz="3400" i="1" dirty="0" smtClean="0"/>
              <a:t>Percentage of Muslim background (MB).   </a:t>
            </a:r>
            <a:r>
              <a:rPr lang="en-US" sz="3400" dirty="0" smtClean="0"/>
              <a:t>Percentage of MB of the community where DMM is happening. This may be different from the people group’s MB; it may be more or it may be less than the people groups MB percentage depending on the demographic composition of that community. </a:t>
            </a:r>
            <a:r>
              <a:rPr lang="en-US" sz="3400" dirty="0" err="1" smtClean="0"/>
              <a:t>Eg</a:t>
            </a:r>
            <a:r>
              <a:rPr lang="en-US" sz="3400" dirty="0" smtClean="0"/>
              <a:t> the Amhara of Ethiopia the MB percentage is 14%, but the Amhara of </a:t>
            </a:r>
            <a:r>
              <a:rPr lang="en-US" sz="3400" dirty="0" err="1" smtClean="0"/>
              <a:t>Wollo</a:t>
            </a:r>
            <a:r>
              <a:rPr lang="en-US" sz="3400" dirty="0" smtClean="0"/>
              <a:t> are 80% Muslim</a:t>
            </a:r>
          </a:p>
          <a:p>
            <a:endParaRPr lang="en-US" sz="3400" dirty="0" smtClean="0"/>
          </a:p>
          <a:p>
            <a:r>
              <a:rPr lang="en-US" sz="3400" i="1" dirty="0" smtClean="0"/>
              <a:t>Number of Leaders in Training- </a:t>
            </a:r>
            <a:r>
              <a:rPr lang="en-US" sz="3400" dirty="0" smtClean="0"/>
              <a:t>Indigenous leaders/Persons of Peace that are being trained, coached and mentored in DMM in a given report period.</a:t>
            </a:r>
          </a:p>
          <a:p>
            <a:pPr marL="0" indent="0">
              <a:buNone/>
            </a:pPr>
            <a:endParaRPr lang="en-US" sz="3400" dirty="0" smtClean="0"/>
          </a:p>
          <a:p>
            <a:r>
              <a:rPr lang="en-US" sz="3400" i="1" dirty="0" smtClean="0"/>
              <a:t>Number of Active DMM Trainers/Coaches</a:t>
            </a:r>
            <a:r>
              <a:rPr lang="en-US" sz="3400" dirty="0" smtClean="0"/>
              <a:t>-   Number of Coaches, Mentors and Trainers that are actively training/coaching/mentoring indigenous leaders to do DMM. As DMM is all about the replication of disciples and leaders, the number of active trainers and coaches need to increase with each passing report period.  Where DMM is happening the number of leaders in training and the number of active trainers and coaches should be proportional to the number of new disciples and baptized disciples. Therefore, a report of 100 new disciples or 90 newly baptized should have at least 50 to 60 of them in leadership training and 20 to 30 active trainers and coaches.</a:t>
            </a:r>
          </a:p>
          <a:p>
            <a:endParaRPr lang="en-US" dirty="0"/>
          </a:p>
        </p:txBody>
      </p:sp>
    </p:spTree>
    <p:extLst>
      <p:ext uri="{BB962C8B-B14F-4D97-AF65-F5344CB8AC3E}">
        <p14:creationId xmlns:p14="http://schemas.microsoft.com/office/powerpoint/2010/main" val="361795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a:t>
            </a:r>
            <a:endParaRPr lang="en-US" dirty="0"/>
          </a:p>
        </p:txBody>
      </p:sp>
      <p:sp>
        <p:nvSpPr>
          <p:cNvPr id="3" name="Content Placeholder 2"/>
          <p:cNvSpPr>
            <a:spLocks noGrp="1"/>
          </p:cNvSpPr>
          <p:nvPr>
            <p:ph sz="quarter" idx="1"/>
          </p:nvPr>
        </p:nvSpPr>
        <p:spPr/>
        <p:txBody>
          <a:bodyPr>
            <a:normAutofit fontScale="70000" lnSpcReduction="20000"/>
          </a:bodyPr>
          <a:lstStyle/>
          <a:p>
            <a:r>
              <a:rPr lang="en-US" i="1" dirty="0" smtClean="0"/>
              <a:t>Churches Not Existing or Merged </a:t>
            </a:r>
            <a:r>
              <a:rPr lang="en-US" dirty="0" smtClean="0"/>
              <a:t>- Churches that have ceased to exist either because of persecution, migration, spiritual apathy or other reasons; or churches that have merged with other church(</a:t>
            </a:r>
            <a:r>
              <a:rPr lang="en-US" dirty="0" err="1" smtClean="0"/>
              <a:t>es</a:t>
            </a:r>
            <a:r>
              <a:rPr lang="en-US" dirty="0" smtClean="0"/>
              <a:t>). We need to specify in our reports which have died or merged. For example 10 churches have ceased to exist, in our reporting we may record them as 4=died and 6=merged.</a:t>
            </a:r>
          </a:p>
          <a:p>
            <a:pPr marL="0" indent="0">
              <a:buNone/>
            </a:pPr>
            <a:endParaRPr lang="en-US" dirty="0" smtClean="0"/>
          </a:p>
          <a:p>
            <a:r>
              <a:rPr lang="en-US" i="1" dirty="0" smtClean="0"/>
              <a:t>New Leaders Deployed-</a:t>
            </a:r>
            <a:r>
              <a:rPr lang="en-US" dirty="0" smtClean="0"/>
              <a:t>   Coached and mentored leaders deployed or mobilized for DMM.</a:t>
            </a:r>
          </a:p>
          <a:p>
            <a:pPr marL="0" indent="0">
              <a:buNone/>
            </a:pPr>
            <a:endParaRPr lang="en-US" dirty="0" smtClean="0"/>
          </a:p>
          <a:p>
            <a:r>
              <a:rPr lang="en-US" i="1" dirty="0" smtClean="0"/>
              <a:t>Persecution Report-</a:t>
            </a:r>
            <a:r>
              <a:rPr lang="en-US" dirty="0" smtClean="0"/>
              <a:t>Report of persecution happening to believers, newly planted churches, or church planters. A separate reporting format is filled if persecution happens and needs to be reported. If you have filled the persecution form you may need to answer the column with “Yes” if not with “No”.</a:t>
            </a:r>
          </a:p>
          <a:p>
            <a:pPr marL="0" indent="0">
              <a:buNone/>
            </a:pPr>
            <a:endParaRPr lang="en-US" dirty="0" smtClean="0"/>
          </a:p>
          <a:p>
            <a:r>
              <a:rPr lang="en-US" i="1" dirty="0" smtClean="0"/>
              <a:t>Previous Data to be corrected.</a:t>
            </a:r>
            <a:r>
              <a:rPr lang="en-US" dirty="0" smtClean="0"/>
              <a:t>  You will need to fill this column if there is a correction to be made the previous quarter reports. You need to specify the thing that needs correction and the quarter. </a:t>
            </a:r>
          </a:p>
        </p:txBody>
      </p:sp>
    </p:spTree>
    <p:extLst>
      <p:ext uri="{BB962C8B-B14F-4D97-AF65-F5344CB8AC3E}">
        <p14:creationId xmlns:p14="http://schemas.microsoft.com/office/powerpoint/2010/main" val="2797079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in Reporting</a:t>
            </a:r>
            <a:endParaRPr lang="en-US" dirty="0"/>
          </a:p>
        </p:txBody>
      </p:sp>
      <p:sp>
        <p:nvSpPr>
          <p:cNvPr id="3" name="Content Placeholder 2"/>
          <p:cNvSpPr>
            <a:spLocks noGrp="1"/>
          </p:cNvSpPr>
          <p:nvPr>
            <p:ph sz="quarter" idx="1"/>
          </p:nvPr>
        </p:nvSpPr>
        <p:spPr/>
        <p:txBody>
          <a:bodyPr>
            <a:normAutofit/>
          </a:bodyPr>
          <a:lstStyle/>
          <a:p>
            <a:r>
              <a:rPr lang="en-US" sz="2800" dirty="0" smtClean="0"/>
              <a:t>Some of the possible challenges in reporting are the following:</a:t>
            </a:r>
            <a:endParaRPr lang="en-US" sz="2800" dirty="0"/>
          </a:p>
          <a:p>
            <a:pPr lvl="2">
              <a:buFont typeface="Wingdings" panose="05000000000000000000" pitchFamily="2" charset="2"/>
              <a:buChar char="§"/>
            </a:pPr>
            <a:r>
              <a:rPr lang="en-US" dirty="0" smtClean="0"/>
              <a:t>Difficulty in understanding the reporting format. Note: only the person who has an understanding of the principles of DMM can understand it.</a:t>
            </a:r>
          </a:p>
          <a:p>
            <a:pPr lvl="2">
              <a:buFont typeface="Wingdings" panose="05000000000000000000" pitchFamily="2" charset="2"/>
              <a:buChar char="§"/>
            </a:pPr>
            <a:r>
              <a:rPr lang="en-US" dirty="0" smtClean="0"/>
              <a:t>Language barrier </a:t>
            </a:r>
          </a:p>
          <a:p>
            <a:pPr lvl="2">
              <a:buFont typeface="Wingdings" panose="05000000000000000000" pitchFamily="2" charset="2"/>
              <a:buChar char="§"/>
            </a:pPr>
            <a:r>
              <a:rPr lang="en-US" dirty="0" smtClean="0"/>
              <a:t>Functionally Illiteracy</a:t>
            </a:r>
          </a:p>
          <a:p>
            <a:pPr lvl="2">
              <a:buFont typeface="Wingdings" panose="05000000000000000000" pitchFamily="2" charset="2"/>
              <a:buChar char="§"/>
            </a:pPr>
            <a:r>
              <a:rPr lang="en-US" dirty="0" smtClean="0"/>
              <a:t>Lack of easy accessibility to  post office/internet</a:t>
            </a:r>
          </a:p>
          <a:p>
            <a:endParaRPr lang="en-US" dirty="0"/>
          </a:p>
        </p:txBody>
      </p:sp>
    </p:spTree>
    <p:extLst>
      <p:ext uri="{BB962C8B-B14F-4D97-AF65-F5344CB8AC3E}">
        <p14:creationId xmlns:p14="http://schemas.microsoft.com/office/powerpoint/2010/main" val="4060381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sz="quarter" idx="1"/>
          </p:nvPr>
        </p:nvSpPr>
        <p:spPr/>
        <p:txBody>
          <a:bodyPr/>
          <a:lstStyle/>
          <a:p>
            <a:r>
              <a:rPr lang="en-US" dirty="0" smtClean="0"/>
              <a:t>Exercise on how to fill the formats (Numerical and Persecution Formats)</a:t>
            </a:r>
            <a:endParaRPr lang="en-US" dirty="0"/>
          </a:p>
        </p:txBody>
      </p:sp>
    </p:spTree>
    <p:extLst>
      <p:ext uri="{BB962C8B-B14F-4D97-AF65-F5344CB8AC3E}">
        <p14:creationId xmlns:p14="http://schemas.microsoft.com/office/powerpoint/2010/main" val="2292648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1110</TotalTime>
  <Words>999</Words>
  <Application>Microsoft Office PowerPoint</Application>
  <PresentationFormat>On-screen Show (4:3)</PresentationFormat>
  <Paragraphs>57</Paragraphs>
  <Slides>12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Oriel</vt:lpstr>
      <vt:lpstr>Microsoft Excel 97-2003 Worksheet</vt:lpstr>
      <vt:lpstr>DMM Metrics and Data Collection Format</vt:lpstr>
      <vt:lpstr>Importance and Need for Reporting</vt:lpstr>
      <vt:lpstr>Cityteam Reporting Format</vt:lpstr>
      <vt:lpstr>PowerPoint Presentation</vt:lpstr>
      <vt:lpstr>PowerPoint Presentation</vt:lpstr>
      <vt:lpstr>Definitions of Data Points of Numerical format  </vt:lpstr>
      <vt:lpstr>Definitions…</vt:lpstr>
      <vt:lpstr>Definitions…</vt:lpstr>
      <vt:lpstr>Definitions…</vt:lpstr>
      <vt:lpstr>Definitions…</vt:lpstr>
      <vt:lpstr>Challenges in Reporting</vt:lpstr>
      <vt:lpstr>Exercise</vt:lpstr>
    </vt:vector>
  </TitlesOfParts>
  <Company>Windows 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pcadmin</dc:creator>
  <cp:lastModifiedBy>pcadmin</cp:lastModifiedBy>
  <cp:revision>11</cp:revision>
  <dcterms:created xsi:type="dcterms:W3CDTF">2014-03-05T17:02:33Z</dcterms:created>
  <dcterms:modified xsi:type="dcterms:W3CDTF">2014-03-06T11:33:15Z</dcterms:modified>
</cp:coreProperties>
</file>