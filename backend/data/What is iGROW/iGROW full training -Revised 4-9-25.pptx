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300" r:id="rId2"/>
    <p:sldId id="301" r:id="rId3"/>
    <p:sldId id="358" r:id="rId4"/>
    <p:sldId id="303" r:id="rId5"/>
    <p:sldId id="308" r:id="rId6"/>
    <p:sldId id="304" r:id="rId7"/>
    <p:sldId id="306" r:id="rId8"/>
    <p:sldId id="284" r:id="rId9"/>
    <p:sldId id="397" r:id="rId10"/>
    <p:sldId id="377" r:id="rId11"/>
    <p:sldId id="398" r:id="rId12"/>
    <p:sldId id="307" r:id="rId13"/>
    <p:sldId id="399" r:id="rId14"/>
    <p:sldId id="309" r:id="rId15"/>
    <p:sldId id="310" r:id="rId16"/>
    <p:sldId id="311" r:id="rId17"/>
    <p:sldId id="312" r:id="rId18"/>
    <p:sldId id="313" r:id="rId19"/>
    <p:sldId id="314" r:id="rId20"/>
    <p:sldId id="392" r:id="rId21"/>
    <p:sldId id="315" r:id="rId22"/>
    <p:sldId id="282" r:id="rId23"/>
    <p:sldId id="317" r:id="rId24"/>
    <p:sldId id="318" r:id="rId25"/>
    <p:sldId id="316" r:id="rId26"/>
    <p:sldId id="351" r:id="rId27"/>
    <p:sldId id="352" r:id="rId28"/>
    <p:sldId id="353" r:id="rId29"/>
    <p:sldId id="354" r:id="rId30"/>
    <p:sldId id="319" r:id="rId31"/>
    <p:sldId id="274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55" r:id="rId41"/>
    <p:sldId id="357" r:id="rId42"/>
    <p:sldId id="328" r:id="rId43"/>
    <p:sldId id="329" r:id="rId44"/>
    <p:sldId id="330" r:id="rId45"/>
    <p:sldId id="400" r:id="rId46"/>
    <p:sldId id="331" r:id="rId47"/>
    <p:sldId id="383" r:id="rId48"/>
    <p:sldId id="332" r:id="rId49"/>
    <p:sldId id="39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48" r:id="rId65"/>
    <p:sldId id="349" r:id="rId66"/>
    <p:sldId id="350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171B"/>
    <a:srgbClr val="EF7B20"/>
    <a:srgbClr val="36803F"/>
    <a:srgbClr val="51A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05"/>
  </p:normalViewPr>
  <p:slideViewPr>
    <p:cSldViewPr snapToGrid="0" snapToObjects="1">
      <p:cViewPr varScale="1">
        <p:scale>
          <a:sx n="103" d="100"/>
          <a:sy n="103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00E3A-AF7D-DA4E-9C04-781B74E7B6A8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064CD-C512-6941-A032-268AB0F76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7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effectLst/>
                <a:latin typeface="Aptos" panose="020B0004020202020204" pitchFamily="34" charset="0"/>
              </a:rPr>
              <a:t>SOLUTION: This session aligns basic coaching skills with principles &amp; values critical for movements.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effectLst/>
                <a:latin typeface="Aptos" panose="020B0004020202020204" pitchFamily="34" charset="0"/>
              </a:rPr>
              <a:t>It  gives a practical introduction to a DMM coaching tool,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effectLst/>
                <a:latin typeface="Aptos" panose="020B0004020202020204" pitchFamily="34" charset="0"/>
              </a:rPr>
              <a:t>and outlines an opportunity to grow as life-long-learners of Jesus.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1" i="0" u="sng" strike="noStrike" dirty="0">
                <a:effectLst/>
                <a:latin typeface="Aptos" panose="020B0004020202020204" pitchFamily="34" charset="0"/>
              </a:rPr>
              <a:t>3 MIN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0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WORDS IN THE CHAT BOX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64CD-C512-6941-A032-268AB0F763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34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coaching is not </a:t>
            </a:r>
            <a:r>
              <a:rPr lang="en-US" sz="1800" b="1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 minute]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telling – </a:t>
            </a:r>
            <a:r>
              <a:rPr lang="en-US" sz="18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disempowers the catalyst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counselling – </a:t>
            </a:r>
            <a:r>
              <a:rPr lang="en-US" sz="18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coaching looks at the present and the future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advice-giving or problem-solving – </a:t>
            </a:r>
            <a:r>
              <a:rPr lang="en-US" sz="18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coaching asks questions, not delivers answers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making comparisons with others – </a:t>
            </a:r>
            <a:r>
              <a:rPr lang="en-US" sz="18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are in a unique context which needs unique solutions and ideas.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consulting or mentoring – </a:t>
            </a:r>
            <a:r>
              <a:rPr lang="en-US" sz="180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coach does not give information or expert advice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64CD-C512-6941-A032-268AB0F763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27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Raises </a:t>
            </a: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800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“Wow! I never thought of it like that!”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</a:t>
            </a: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responsibility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800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“What can I do to change the situation?”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Facilitates </a:t>
            </a: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“</a:t>
            </a:r>
            <a:r>
              <a:rPr lang="en-US" sz="1800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by step, I can create a new habit that brings a different outcome.”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Affirms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strengths – </a:t>
            </a:r>
            <a:r>
              <a:rPr lang="en-US" sz="1800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“I am good at this. Knowing this brings me energy.”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Develops a </a:t>
            </a: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growth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mindset – </a:t>
            </a:r>
            <a:r>
              <a:rPr lang="en-US" sz="1800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“I am developing my skills.” Rather than a fixed mindset which says, “I’m not good at this.”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Focuses on the </a:t>
            </a:r>
            <a:r>
              <a:rPr lang="en-US" sz="18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future</a:t>
            </a:r>
            <a:r>
              <a:rPr lang="en-US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800" i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“I can see a vision of what I desire.”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064CD-C512-6941-A032-268AB0F763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4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B19D-DE0F-EFA7-5199-E3181B54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4E58E-0D61-C8CF-A654-A0B11263F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AE076-D8BC-01C9-4FC7-82C1A220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THIRD step is to see what is currently happening and to think about the current LEAD and LAG indicators of your team.</a:t>
            </a:r>
          </a:p>
          <a:p>
            <a:endParaRPr lang="en-US" dirty="0"/>
          </a:p>
          <a:p>
            <a:r>
              <a:rPr lang="en-US" dirty="0"/>
              <a:t>1 min.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3CB3A-446A-FAD8-39CC-9EB66E27F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IN YOUR GROUP FOR 5 MINUTES LISTING SOME OF THE IMPORTANT QUESTIONS JESUS ASKED, WHOM HE ASKED AND WHAT WAS HIS IN TENT IN ASKING</a:t>
            </a:r>
          </a:p>
          <a:p>
            <a:endParaRPr lang="en-US" dirty="0"/>
          </a:p>
          <a:p>
            <a:r>
              <a:rPr lang="en-US" dirty="0"/>
              <a:t>5 min._ 3 min  = 8 MIN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0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9600" b="0" i="0" u="none" strike="noStrike" dirty="0">
                <a:solidFill>
                  <a:srgbClr val="103F48"/>
                </a:solidFill>
                <a:effectLst/>
                <a:latin typeface="Open Sans" panose="020B0606030504020204" pitchFamily="34" charset="0"/>
              </a:rPr>
              <a:t>A BOOK I READ SEVERAL YEARS AGO: HAS THE TITLE: JESUS IS THE QUESTION (COVERING UP JESUS IS THE ANSWER)</a:t>
            </a: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9600" b="0" i="0" u="none" strike="noStrike" dirty="0">
                <a:solidFill>
                  <a:srgbClr val="103F48"/>
                </a:solidFill>
                <a:effectLst/>
                <a:latin typeface="Open Sans" panose="020B0606030504020204" pitchFamily="34" charset="0"/>
              </a:rPr>
              <a:t>THE SUBTITLE</a:t>
            </a:r>
            <a:r>
              <a:rPr lang="en-US" sz="9600" b="0" i="0" u="none" strike="noStrike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OF THE BOOK IS THE 307 QUESTIONS JESUS ASKED &amp; THE 3 THAT HE ANSWERED</a:t>
            </a: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endParaRPr lang="en-US" sz="9600" b="0" i="0" u="none" strike="noStrike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9600" b="0" i="0" u="none" strike="noStrike" dirty="0">
                <a:solidFill>
                  <a:srgbClr val="103F48"/>
                </a:solidFill>
                <a:effectLst/>
                <a:latin typeface="Open Sans" panose="020B0606030504020204" pitchFamily="34" charset="0"/>
              </a:rPr>
              <a:t>Jesus was asked 183 of which he only answers 3 –and YET HE SET AN EXAMPLE THAT HE ASKED 307 Questions almost twice what he was asked.</a:t>
            </a: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endParaRPr lang="en-US" sz="9600" b="0" i="0" u="none" strike="noStrike" dirty="0">
              <a:solidFill>
                <a:srgbClr val="103F48"/>
              </a:solidFill>
              <a:effectLst/>
              <a:latin typeface="Open Sans" panose="020B0606030504020204" pitchFamily="34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9600" b="0" i="0" u="none" strike="noStrike" dirty="0">
                <a:solidFill>
                  <a:srgbClr val="103F48"/>
                </a:solidFill>
                <a:effectLst/>
                <a:latin typeface="Open Sans" panose="020B0606030504020204" pitchFamily="34" charset="0"/>
              </a:rPr>
              <a:t> I WOULD PROPOSE TO YOU THAT JESUS WAS A MASTER TEACH PRIMARILY BECAUSE HE KNEW HOW TO ASK GOOD QUESTIONS</a:t>
            </a: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9600" b="0" i="0" u="none" strike="noStrike" dirty="0">
                <a:solidFill>
                  <a:srgbClr val="103F48"/>
                </a:solidFill>
                <a:effectLst/>
                <a:latin typeface="Open Sans" panose="020B0606030504020204" pitchFamily="34" charset="0"/>
              </a:rPr>
              <a:t>(AND TELL GOOD STORIES)!  3MIN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9B73-0539-4B4C-9C7D-C20F1D3497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37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BB94-80CC-D46F-5F0E-998FAFF2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9133A-11B4-31AE-E91E-5A8CE5D11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D9365-27C7-C88D-C953-43BD19E1F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iGROW COACHING TOOL is designed to help you get out of the way, ASK INSIGHTFUL QUESTIONS and allow the Holy Spirit to lead a great EVALUATION CONVERSATION&gt;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 min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72423-D849-0878-2C57-09F4CBD7D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29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think back about the ratings assigned to each category now talk about the Highs to celebrate or the Lows to course correct. </a:t>
            </a:r>
          </a:p>
          <a:p>
            <a:endParaRPr lang="en-US" b="1" u="sng" dirty="0"/>
          </a:p>
          <a:p>
            <a:r>
              <a:rPr lang="en-US" b="1" u="sng" dirty="0"/>
              <a:t>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6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528D-C7AF-4DD2-CF55-A6F20A11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ABF2E-C96C-DC9D-2699-F9995879A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CA30A-59BC-A71C-27AD-65034CF25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PARTICULAR TOOL has you look at the HIGHs and LOWs of your engagement to DECIDE what to focus on in the session.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PASS OUT HANDOUT</a:t>
            </a:r>
          </a:p>
          <a:p>
            <a:endParaRPr lang="en-US" dirty="0"/>
          </a:p>
          <a:p>
            <a:r>
              <a:rPr lang="en-US" dirty="0"/>
              <a:t>PRAYER, Compassion ministry &amp; authentic relationships, </a:t>
            </a:r>
            <a:r>
              <a:rPr lang="en-US" dirty="0" err="1"/>
              <a:t>PoP</a:t>
            </a:r>
            <a:r>
              <a:rPr lang="en-US" dirty="0"/>
              <a:t>, DGs, Obedience, Churches formed, disciples replicated, leaders developed, churches reproducing &amp; Evaluation</a:t>
            </a:r>
          </a:p>
          <a:p>
            <a:endParaRPr lang="en-US" dirty="0"/>
          </a:p>
          <a:p>
            <a:r>
              <a:rPr lang="en-US" dirty="0"/>
              <a:t>3 MIN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F5F62-CC0F-5D9C-DDB3-9C647A8ED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13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F715-8726-C9AD-0F0B-E05722CA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26C9D-71FC-099E-1353-92ACE3EB2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461FD-EE79-81E7-C7BF-1A03567FD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think back about the ratings assigned to each category now talk about the Highs to celebrate or the Lows to course correct. </a:t>
            </a:r>
          </a:p>
          <a:p>
            <a:endParaRPr lang="en-US" b="1" u="sng" dirty="0"/>
          </a:p>
          <a:p>
            <a:r>
              <a:rPr lang="en-US" b="1" u="sng" dirty="0"/>
              <a:t>1 MIN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BAF43-D2F8-FC3C-39A0-1AD265615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5CEE3-98F5-A740-9DA7-4ED7531811D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1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B290-A734-B7A2-F20B-E75B41A97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A9ED9-372A-781F-64D9-A3F75E0EE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406DC-D9D0-A743-D281-E200D7D0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54049-6DCF-159E-F468-93C281B0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AF0D3-B3CB-5496-3DA5-558A1EC6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7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6C1F-06A2-F174-76F2-BF4DB928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D115-68EE-B114-F06B-6F9C41A6A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4220F-6C3B-4AAA-2874-8D55797E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EB4B5-0546-703B-FF02-C46A9427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D633A-38C9-9B42-D351-BB9A9A8B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8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CB21-EC9A-898B-41B6-6819C4F7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C1A9D-FC42-F2A1-FB54-7C99ACC3E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8F6B2-76E4-5467-2B18-33D2A892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0983F-B5CA-5320-E143-C7E92B43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93CC9-30CC-F2FB-EAD9-A09AE650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8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2D4C-AB31-8A6E-D9BE-080AABD9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4DDF8-0FB9-0666-B8AF-E474E3B46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04E4D-4353-EA5D-927D-95EBCD838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9520-3E22-4EB6-C0F1-23473282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8BB25-7B89-B671-3E14-18234B43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4E3BB-6842-AF02-B086-2BDF2B84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0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4B51-FDE5-561D-9749-77F5129A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B818E-D9A9-B5EE-77F8-59568C9F3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1DBA6-7503-5CFB-E641-B07C71620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52150-58B9-36CE-4C74-B2DAA457D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FCA04-2BBB-8381-DA60-95D9401FA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79948-5531-0DCE-7AA1-2F981C48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70E46-ED7A-DC6D-1E5F-0F9570D3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58017-A5E7-1F8B-3DBC-CC2F3936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9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635F-CF8B-3FC5-70B4-752AB466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FA68B-A61A-6603-CD5B-09B7CAFD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AABAD-2800-A881-C7AA-63D7EEC6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E51CC-2162-12E5-AD7D-66A7E427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7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FC285-150D-F53D-757E-D5A5D7C4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B5BE1-626A-7C2C-F5E0-7745D603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D1AF-B0A5-A03B-C381-75D69C46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4385-70ED-A2D8-E623-4B74095D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98BC-0EC6-4A72-A5C5-D9D4EED70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3EC3-93E5-1F20-3ACF-29933A04A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E9475-C6A7-F42E-7B9F-DA67626A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33525-6216-CC7A-31CA-7F723D41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120A5-5453-3F1B-4293-91AA9F0C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CC7D8-885F-DCA0-E1C6-1778639A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5FA7A-90F6-9978-112A-A29C9E829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DCD6D-C239-1060-7D2B-04CBFCE50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4ECDD-5E9C-9BFE-A393-F9AFAC24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345A6-E73D-4EE5-190C-C9E8B31E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7A245-F901-DE30-DB51-BBF79432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0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0744-E72C-4779-93ED-A639FFDE0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3574A-170E-F349-0A42-3BDA7F3D7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3ABF1-629E-6519-6688-06FDAEB5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A42FD-1E83-8334-DDD2-1A528A4A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1BBD2-2A12-A8D7-EA32-689FB66B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9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D81548-1754-8C42-FD49-1384B94B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63F30-0194-BA86-4AFF-E09DD59A3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B07F4-29E9-DFEC-A8D9-9B2BA600E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1FB0-110C-1E21-AC0D-322F11CC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EF63E-27C1-AE6F-91ED-332752CD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65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93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0B9F0-A516-74C1-56EE-57E63097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ACE97-C7FF-B122-DC9B-D85DF0A91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656C8-B3AA-11EE-7356-1CC77E617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6B8E8-4A42-C844-A773-37CB5FEFDB4E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EF48-F283-39FF-6032-1AFFE2A67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7D9C6-9EC6-258A-18E3-53D264698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164C7-DC73-FD4C-B1EA-0F412B0F1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8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6A14855-F012-160A-7678-07A6DC3B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81" y="157162"/>
            <a:ext cx="6700838" cy="6700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907F77-3618-EA86-B995-DF965A26C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69" y="4410019"/>
            <a:ext cx="1626395" cy="1626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F87D44-2E8B-14B3-DD9F-C70141EB1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256" y="5214829"/>
            <a:ext cx="1643171" cy="16431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CA0AD8-6E16-5898-B838-3593591D1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996" y="2766848"/>
            <a:ext cx="1626395" cy="16263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833BBF-092B-A12E-A8B2-C701571E6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083" y="3588435"/>
            <a:ext cx="1626394" cy="1626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DAB641-BD47-5C26-8744-AC0A2E334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5193" y="1962040"/>
            <a:ext cx="1626394" cy="162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2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10D912-A9ED-8FCB-FCAA-1173F494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17" y="-2937452"/>
            <a:ext cx="11575613" cy="115756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EE21B6-5749-F130-FE38-1C90A6CF3F93}"/>
              </a:ext>
            </a:extLst>
          </p:cNvPr>
          <p:cNvSpPr txBox="1"/>
          <p:nvPr/>
        </p:nvSpPr>
        <p:spPr>
          <a:xfrm>
            <a:off x="563318" y="4429732"/>
            <a:ext cx="11065365" cy="141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AND GROWING DMM MINISTRY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 COACHING SKILLS</a:t>
            </a:r>
            <a:endParaRPr lang="en-US" sz="3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94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263462"/>
            <a:ext cx="12192000" cy="35925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The problem:</a:t>
            </a:r>
            <a:r>
              <a:rPr lang="en-US" sz="4000" b="1" i="0" u="none" strike="noStrike" dirty="0">
                <a:effectLst/>
                <a:latin typeface="Aptos" panose="020B0004020202020204" pitchFamily="34" charset="0"/>
              </a:rPr>
              <a:t>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4000" b="0" i="0" u="none" strike="noStrike" dirty="0">
                <a:effectLst/>
                <a:latin typeface="Aptos" panose="020B0004020202020204" pitchFamily="34" charset="0"/>
              </a:rPr>
              <a:t>Misperceptions about coaching often </a:t>
            </a:r>
            <a:r>
              <a:rPr lang="en-US" sz="4000" dirty="0">
                <a:latin typeface="Aptos" panose="020B0004020202020204" pitchFamily="34" charset="0"/>
              </a:rPr>
              <a:t>adds</a:t>
            </a:r>
            <a:r>
              <a:rPr lang="en-US" sz="4000" b="0" i="0" u="none" strike="noStrike" dirty="0">
                <a:effectLst/>
                <a:latin typeface="Aptos" panose="020B0004020202020204" pitchFamily="34" charset="0"/>
              </a:rPr>
              <a:t> undo pressure on leaders to feel they need to know all the answers - which short-circuits discovery and the dependence on the Spirit.</a:t>
            </a:r>
          </a:p>
          <a:p>
            <a:pPr algn="ctr"/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1986393" y="905262"/>
            <a:ext cx="94173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5000" b="1" i="0" u="none" strike="noStrike" dirty="0">
                <a:effectLst/>
                <a:latin typeface="Aptos" panose="020B0004020202020204" pitchFamily="34" charset="0"/>
              </a:rPr>
              <a:t>Good coaching enhances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5000" b="1" i="0" u="none" strike="noStrike" dirty="0">
                <a:effectLst/>
                <a:latin typeface="Aptos" panose="020B0004020202020204" pitchFamily="34" charset="0"/>
              </a:rPr>
              <a:t>a culture of evaluation.</a:t>
            </a:r>
            <a:endParaRPr lang="en-US" sz="5000" b="0" i="0" u="none" strike="noStrike" dirty="0">
              <a:effectLst/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BA6BE7-6F59-3678-182B-44B84E6CE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806" y="302966"/>
            <a:ext cx="2688430" cy="26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COACHING?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BA6BE7-6F59-3678-182B-44B84E6CE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9" y="129065"/>
            <a:ext cx="2688430" cy="26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3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COACHING?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BA6BE7-6F59-3678-182B-44B84E6CE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9" y="129065"/>
            <a:ext cx="2688430" cy="2688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137172" y="3956283"/>
            <a:ext cx="7917655" cy="265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Prayerfully asking insightful questions of self-discovery to move others toward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desired outcome.</a:t>
            </a:r>
            <a:endParaRPr lang="en-US" sz="3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47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6A4DA-58F0-21E5-B806-C7A0576C8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546" y="-386852"/>
            <a:ext cx="3975000" cy="3975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8B7221-4713-D631-26E5-32A92388FA6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874169" y="3792781"/>
            <a:ext cx="910232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3000" b="1" i="0" dirty="0">
                <a:solidFill>
                  <a:srgbClr val="FFFF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elling</a:t>
            </a:r>
            <a:endParaRPr lang="en-US" sz="3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3000" b="1" i="0" dirty="0">
                <a:solidFill>
                  <a:srgbClr val="FFFF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ounseling </a:t>
            </a:r>
            <a:endParaRPr lang="en-US" sz="3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3000" b="1" i="0" dirty="0">
                <a:solidFill>
                  <a:srgbClr val="FFFF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dvice giving or problem solving</a:t>
            </a:r>
            <a:endParaRPr lang="en-US" sz="3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3000" b="1" i="0" dirty="0">
                <a:solidFill>
                  <a:srgbClr val="FFFF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aking comparisons with others</a:t>
            </a:r>
            <a:endParaRPr lang="en-US" sz="3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3000" b="1" i="0" dirty="0">
                <a:solidFill>
                  <a:srgbClr val="FFFFF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onsulting or mentoring</a:t>
            </a:r>
            <a:endParaRPr lang="en-US" sz="3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2CB9F-B76D-7261-565D-5D40D827E9B3}"/>
              </a:ext>
            </a:extLst>
          </p:cNvPr>
          <p:cNvSpPr txBox="1"/>
          <p:nvPr/>
        </p:nvSpPr>
        <p:spPr>
          <a:xfrm>
            <a:off x="2457449" y="126785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COACHING IS NOT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925EB-17B2-AB32-A5FD-6463592E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44" y="3792781"/>
            <a:ext cx="641202" cy="641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71C1BD-D83A-5197-BD07-B5450264B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44" y="4237834"/>
            <a:ext cx="641202" cy="641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E4BF69-A426-1066-482F-0F655EF42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44" y="4696351"/>
            <a:ext cx="641202" cy="641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98670A-E3A8-EE04-32C5-A54CEC6F8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44" y="5169940"/>
            <a:ext cx="641202" cy="641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CE3522-3D41-4000-16C7-0BE32DBB5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44" y="5612189"/>
            <a:ext cx="641202" cy="64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8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C1B35D4-F663-6FF2-CE3A-C564D23CE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70" y="11383"/>
            <a:ext cx="3223847" cy="32238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8B7221-4713-D631-26E5-32A92388FA6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874169" y="3578775"/>
            <a:ext cx="91023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Generates responsibility </a:t>
            </a:r>
            <a:endParaRPr lang="en-US" sz="3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Raises awareness </a:t>
            </a:r>
            <a:endParaRPr lang="en-US" sz="3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Facilitates change </a:t>
            </a:r>
            <a:endParaRPr lang="en-US" sz="3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Affirms strengths </a:t>
            </a:r>
            <a:endParaRPr lang="en-US" sz="3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Focuses on the future </a:t>
            </a:r>
            <a:endParaRPr lang="en-US" sz="3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Develops a growth mindset </a:t>
            </a:r>
            <a:endParaRPr lang="en-US" sz="3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2CB9F-B76D-7261-565D-5D40D827E9B3}"/>
              </a:ext>
            </a:extLst>
          </p:cNvPr>
          <p:cNvSpPr txBox="1"/>
          <p:nvPr/>
        </p:nvSpPr>
        <p:spPr>
          <a:xfrm>
            <a:off x="2457449" y="126785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COACHING DOES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358B4-F4D7-D850-A9E2-DAA917606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37" y="3515922"/>
            <a:ext cx="726941" cy="7269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2B948E-ACE1-7D45-EE51-074E49E46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36" y="3966314"/>
            <a:ext cx="726941" cy="7269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7B81D5-8EF3-7313-CA1C-278357A62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36" y="4416706"/>
            <a:ext cx="726941" cy="7269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E08A9B-CC6D-C84C-E560-5EF48299B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35" y="4867098"/>
            <a:ext cx="726941" cy="7269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4CB133-6BD9-7298-2ADA-A1C99FD8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35" y="5320325"/>
            <a:ext cx="726941" cy="7269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490723-635F-9FAA-A741-1DBD5D019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35" y="5767882"/>
            <a:ext cx="726941" cy="72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2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AD461A-6DB2-3AFE-BBC7-7CF6FB459FC3}"/>
              </a:ext>
            </a:extLst>
          </p:cNvPr>
          <p:cNvSpPr txBox="1"/>
          <p:nvPr/>
        </p:nvSpPr>
        <p:spPr>
          <a:xfrm>
            <a:off x="2081211" y="189042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TELLING VS COACHING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BB80EC-EF6C-75CB-217C-111A634E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821" y="1621650"/>
            <a:ext cx="5892357" cy="58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0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23F9B-2BB5-7251-3334-CAD37AD6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3368B4-41AC-FF9C-51D4-B272520FC11E}"/>
              </a:ext>
            </a:extLst>
          </p:cNvPr>
          <p:cNvSpPr txBox="1"/>
          <p:nvPr/>
        </p:nvSpPr>
        <p:spPr>
          <a:xfrm>
            <a:off x="2734354" y="2786162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DMMLAND STORY</a:t>
            </a:r>
          </a:p>
        </p:txBody>
      </p:sp>
    </p:spTree>
    <p:extLst>
      <p:ext uri="{BB962C8B-B14F-4D97-AF65-F5344CB8AC3E}">
        <p14:creationId xmlns:p14="http://schemas.microsoft.com/office/powerpoint/2010/main" val="4122703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EAFB-9BFA-CA20-A6FD-89AC9E28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5027A4-4F0E-A4D2-E649-D63D10A3CDF1}"/>
              </a:ext>
            </a:extLst>
          </p:cNvPr>
          <p:cNvSpPr txBox="1"/>
          <p:nvPr/>
        </p:nvSpPr>
        <p:spPr>
          <a:xfrm>
            <a:off x="4965481" y="3353591"/>
            <a:ext cx="220848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</a:t>
            </a:r>
            <a:r>
              <a:rPr lang="en-US" sz="45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PRAYER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C82DC-4772-9DA0-8988-45A25A669002}"/>
              </a:ext>
            </a:extLst>
          </p:cNvPr>
          <p:cNvSpPr txBox="1"/>
          <p:nvPr/>
        </p:nvSpPr>
        <p:spPr>
          <a:xfrm>
            <a:off x="4367047" y="4032709"/>
            <a:ext cx="37206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CREATE GOALS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DCFD0-6F3A-97EB-C302-7796EB92E303}"/>
              </a:ext>
            </a:extLst>
          </p:cNvPr>
          <p:cNvSpPr txBox="1"/>
          <p:nvPr/>
        </p:nvSpPr>
        <p:spPr>
          <a:xfrm>
            <a:off x="3933496" y="4681762"/>
            <a:ext cx="4272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DEVELOP STRATEGY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CDE32-F943-DFC9-1501-4BFC356FC681}"/>
              </a:ext>
            </a:extLst>
          </p:cNvPr>
          <p:cNvSpPr txBox="1"/>
          <p:nvPr/>
        </p:nvSpPr>
        <p:spPr>
          <a:xfrm>
            <a:off x="3720662" y="5414887"/>
            <a:ext cx="4713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“I WILL” STATEMENTS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 descr="A text on a white background&#10;&#10;Description automatically generated">
            <a:extLst>
              <a:ext uri="{FF2B5EF4-FFF2-40B4-BE49-F238E27FC236}">
                <a16:creationId xmlns:a16="http://schemas.microsoft.com/office/drawing/2014/main" id="{142E5803-F538-CCE0-2BC3-531D35A24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08" y="306637"/>
            <a:ext cx="11218371" cy="631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48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680E4-6226-B5F4-69DF-A907F401C91D}"/>
              </a:ext>
            </a:extLst>
          </p:cNvPr>
          <p:cNvSpPr txBox="1"/>
          <p:nvPr/>
        </p:nvSpPr>
        <p:spPr>
          <a:xfrm>
            <a:off x="2473215" y="994668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DISCOVERY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F38E0-98A1-C266-F404-A71B4D854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3153" y="-363524"/>
            <a:ext cx="3578157" cy="3578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265EF7-9BD5-A188-0C5E-79B0C9002FB8}"/>
              </a:ext>
            </a:extLst>
          </p:cNvPr>
          <p:cNvSpPr txBox="1"/>
          <p:nvPr/>
        </p:nvSpPr>
        <p:spPr>
          <a:xfrm>
            <a:off x="1315926" y="2195251"/>
            <a:ext cx="10082542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                         Luke 10:25-29</a:t>
            </a:r>
          </a:p>
          <a:p>
            <a:endParaRPr lang="en-US" sz="3500" b="1" dirty="0"/>
          </a:p>
          <a:p>
            <a:r>
              <a:rPr lang="en-US" sz="3500" b="1" dirty="0"/>
              <a:t>1). How many questions are asked in these 5 verses?</a:t>
            </a:r>
          </a:p>
          <a:p>
            <a:r>
              <a:rPr lang="en-US" sz="3500" b="1" dirty="0"/>
              <a:t>2). Discuss why you think Jesus asked a question </a:t>
            </a:r>
          </a:p>
          <a:p>
            <a:r>
              <a:rPr lang="en-US" sz="3500" b="1" dirty="0"/>
              <a:t>      instead of telling the lawyer the answer.</a:t>
            </a:r>
          </a:p>
          <a:p>
            <a:r>
              <a:rPr lang="en-US" sz="3500" b="1" dirty="0"/>
              <a:t>3). When the lawyer asked another question what did Jesus do next in verses 30-37? What can we learn from Jesus’ example?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98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680E4-6226-B5F4-69DF-A907F401C91D}"/>
              </a:ext>
            </a:extLst>
          </p:cNvPr>
          <p:cNvSpPr txBox="1"/>
          <p:nvPr/>
        </p:nvSpPr>
        <p:spPr>
          <a:xfrm>
            <a:off x="2457449" y="126785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DISCOVERY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F38E0-98A1-C266-F404-A71B4D85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208" y="-363523"/>
            <a:ext cx="3578157" cy="35781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3C81CA-F2F1-168C-995C-4E93BA6EA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111146"/>
              </p:ext>
            </p:extLst>
          </p:nvPr>
        </p:nvGraphicFramePr>
        <p:xfrm>
          <a:off x="939800" y="2892364"/>
          <a:ext cx="10312400" cy="323163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84217">
                  <a:extLst>
                    <a:ext uri="{9D8B030D-6E8A-4147-A177-3AD203B41FA5}">
                      <a16:colId xmlns:a16="http://schemas.microsoft.com/office/drawing/2014/main" val="199783345"/>
                    </a:ext>
                  </a:extLst>
                </a:gridCol>
                <a:gridCol w="2990716">
                  <a:extLst>
                    <a:ext uri="{9D8B030D-6E8A-4147-A177-3AD203B41FA5}">
                      <a16:colId xmlns:a16="http://schemas.microsoft.com/office/drawing/2014/main" val="3395800950"/>
                    </a:ext>
                  </a:extLst>
                </a:gridCol>
                <a:gridCol w="3437467">
                  <a:extLst>
                    <a:ext uri="{9D8B030D-6E8A-4147-A177-3AD203B41FA5}">
                      <a16:colId xmlns:a16="http://schemas.microsoft.com/office/drawing/2014/main" val="3141714115"/>
                    </a:ext>
                  </a:extLst>
                </a:gridCol>
              </a:tblGrid>
              <a:tr h="7672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question Jesus asks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Whom Jesus asks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Jesus' Intent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3636309"/>
                  </a:ext>
                </a:extLst>
              </a:tr>
              <a:tr h="93001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Example: Who do you say I am?</a:t>
                      </a:r>
                      <a:endParaRPr lang="en-US" sz="18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 twelve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Let them discover and articulate what Jesus’ identity is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148738"/>
                  </a:ext>
                </a:extLst>
              </a:tr>
              <a:tr h="767205"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Example: Whose image and inscription are on a Denarius?</a:t>
                      </a:r>
                      <a:r>
                        <a:rPr lang="en-US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scribes + chief priests</a:t>
                      </a:r>
                      <a:r>
                        <a:rPr lang="en-US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Realize it is Caesar’s, and Caesar thus is owed taxes</a:t>
                      </a:r>
                      <a:r>
                        <a:rPr lang="en-US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760610"/>
                  </a:ext>
                </a:extLst>
              </a:tr>
              <a:tr h="767205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105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04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A91ECE-296B-A2E1-0E3E-1EC7880F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8150" y="2539495"/>
            <a:ext cx="10396882" cy="11519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SUBTITLE</a:t>
            </a:r>
            <a:r>
              <a:rPr lang="en-US" dirty="0"/>
              <a:t>: </a:t>
            </a:r>
            <a:r>
              <a:rPr lang="en-US" i="1" dirty="0"/>
              <a:t>The 307 </a:t>
            </a:r>
            <a:br>
              <a:rPr lang="en-US" i="1" dirty="0"/>
            </a:br>
            <a:r>
              <a:rPr lang="en-US" i="1" dirty="0"/>
              <a:t>Questions JESUS </a:t>
            </a:r>
            <a:br>
              <a:rPr lang="en-US" i="1" dirty="0"/>
            </a:br>
            <a:r>
              <a:rPr lang="en-US" i="1" dirty="0"/>
              <a:t>ASKED &amp; the 3 </a:t>
            </a:r>
            <a:br>
              <a:rPr lang="en-US" i="1" dirty="0"/>
            </a:br>
            <a:r>
              <a:rPr lang="en-US" i="1" dirty="0"/>
              <a:t>That He answered</a:t>
            </a:r>
          </a:p>
        </p:txBody>
      </p:sp>
      <p:pic>
        <p:nvPicPr>
          <p:cNvPr id="9" name="Content Placeholder 8" descr="A book cover with a yellow note&#10;&#10;Description automatically generated">
            <a:extLst>
              <a:ext uri="{FF2B5EF4-FFF2-40B4-BE49-F238E27FC236}">
                <a16:creationId xmlns:a16="http://schemas.microsoft.com/office/drawing/2014/main" id="{08740F53-A391-7E42-5DD6-436F737473A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 rot="601195">
            <a:off x="6422860" y="318662"/>
            <a:ext cx="4091031" cy="6230957"/>
          </a:xfrm>
        </p:spPr>
      </p:pic>
    </p:spTree>
    <p:extLst>
      <p:ext uri="{BB962C8B-B14F-4D97-AF65-F5344CB8AC3E}">
        <p14:creationId xmlns:p14="http://schemas.microsoft.com/office/powerpoint/2010/main" val="2028928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A7D0D9-28B7-2916-52A6-6DAF20D14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02" y="-872815"/>
            <a:ext cx="4368398" cy="4368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907F77-3618-EA86-B995-DF965A26C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80" y="2763733"/>
            <a:ext cx="1193590" cy="11935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F87D44-2E8B-14B3-DD9F-C70141EB1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524" y="1967424"/>
            <a:ext cx="1205902" cy="12059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CA0AD8-6E16-5898-B838-3593591D1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524" y="4353026"/>
            <a:ext cx="1193590" cy="11935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833BBF-092B-A12E-A8B2-C701571E6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9959" y="3569029"/>
            <a:ext cx="1193590" cy="11935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DAB641-BD47-5C26-8744-AC0A2E334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6524" y="5137023"/>
            <a:ext cx="1193590" cy="11935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1F1CC-F0FA-45AB-16E2-D32419429BC5}"/>
              </a:ext>
            </a:extLst>
          </p:cNvPr>
          <p:cNvSpPr txBox="1"/>
          <p:nvPr/>
        </p:nvSpPr>
        <p:spPr>
          <a:xfrm>
            <a:off x="4125716" y="2147381"/>
            <a:ext cx="806628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INVITE</a:t>
            </a:r>
          </a:p>
          <a:p>
            <a:r>
              <a:rPr lang="en-US" sz="5200" b="1" dirty="0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</a:t>
            </a:r>
          </a:p>
          <a:p>
            <a:r>
              <a:rPr lang="en-US" sz="5200" b="1" dirty="0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REALITY</a:t>
            </a:r>
          </a:p>
          <a:p>
            <a:r>
              <a:rPr lang="en-US" sz="5200" b="1" dirty="0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OPTIONS</a:t>
            </a:r>
          </a:p>
          <a:p>
            <a:r>
              <a:rPr lang="en-US" sz="5200" b="1" dirty="0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A5372-D6C9-DED7-AB6B-D40822C3CFD3}"/>
              </a:ext>
            </a:extLst>
          </p:cNvPr>
          <p:cNvSpPr txBox="1"/>
          <p:nvPr/>
        </p:nvSpPr>
        <p:spPr>
          <a:xfrm>
            <a:off x="5505305" y="77771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COACHING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7435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00457-23BA-F258-DBEE-C686E500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8" y="519953"/>
            <a:ext cx="2432634" cy="24326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INVITE IN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137172" y="4665725"/>
            <a:ext cx="7917655" cy="6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HELLO, HOW ARE YOU?</a:t>
            </a:r>
            <a:endParaRPr lang="en-US" sz="3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08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49D70B-205C-DEE3-79D3-C562F83AD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8" y="519953"/>
            <a:ext cx="2432634" cy="24326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9232527" cy="917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3161D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 </a:t>
            </a: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US" sz="5000" b="1" dirty="0" err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000" b="1" dirty="0" err="1">
                <a:solidFill>
                  <a:srgbClr val="C3161D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5000" b="1" dirty="0" err="1">
                <a:solidFill>
                  <a:srgbClr val="53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5000" b="1" dirty="0" err="1">
                <a:solidFill>
                  <a:srgbClr val="37804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000" b="1" dirty="0" err="1">
                <a:solidFill>
                  <a:srgbClr val="F0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137172" y="4665725"/>
            <a:ext cx="7917655" cy="6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YOU WANT TO SEE HAPPEN</a:t>
            </a:r>
            <a:endParaRPr lang="en-US" sz="3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9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CB1E8C-3DE6-A90F-466E-7B8D315D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8" y="519953"/>
            <a:ext cx="2432634" cy="24326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9232527" cy="917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52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REALITY </a:t>
            </a: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i</a:t>
            </a:r>
            <a:r>
              <a:rPr lang="en-US" sz="5000" b="1" dirty="0">
                <a:solidFill>
                  <a:srgbClr val="C3161D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5000" b="1" dirty="0">
                <a:solidFill>
                  <a:srgbClr val="53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5000" b="1" dirty="0">
                <a:solidFill>
                  <a:srgbClr val="37804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000" b="1" dirty="0">
                <a:solidFill>
                  <a:srgbClr val="F0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137172" y="4356025"/>
            <a:ext cx="7917655" cy="128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YOU ARE DOING AND WHAT YOU HAVE DONE</a:t>
            </a:r>
            <a:endParaRPr lang="en-US" sz="3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238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9E884F-7715-B716-7DCE-D3A099D2A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8" y="519953"/>
            <a:ext cx="2432634" cy="24326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9232527" cy="917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OPTIONS</a:t>
            </a:r>
            <a:r>
              <a:rPr lang="en-US" sz="5000" b="1" dirty="0">
                <a:solidFill>
                  <a:srgbClr val="52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US" sz="5000" b="1" dirty="0" err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000" b="1" dirty="0" err="1">
                <a:solidFill>
                  <a:srgbClr val="C3161D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5000" b="1" dirty="0" err="1">
                <a:solidFill>
                  <a:srgbClr val="53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5000" b="1" dirty="0" err="1">
                <a:solidFill>
                  <a:srgbClr val="37804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000" b="1" dirty="0" err="1">
                <a:solidFill>
                  <a:srgbClr val="F0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137172" y="4665725"/>
            <a:ext cx="7917655" cy="6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YOU COULD DO</a:t>
            </a:r>
            <a:endParaRPr lang="en-US" sz="3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418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5D6BFC-3B0B-7174-1264-D8579315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8" y="519953"/>
            <a:ext cx="2432634" cy="24326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F02682-C7D5-27B7-1955-2A521DC9AC3A}"/>
              </a:ext>
            </a:extLst>
          </p:cNvPr>
          <p:cNvSpPr/>
          <p:nvPr/>
        </p:nvSpPr>
        <p:spPr>
          <a:xfrm>
            <a:off x="0" y="3429000"/>
            <a:ext cx="12192000" cy="3143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457449" y="1267853"/>
            <a:ext cx="9232527" cy="917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DO </a:t>
            </a: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US" sz="5000" b="1" dirty="0" err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000" b="1" dirty="0" err="1">
                <a:solidFill>
                  <a:srgbClr val="C3161D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5000" b="1" dirty="0" err="1">
                <a:solidFill>
                  <a:srgbClr val="53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5000" b="1" dirty="0" err="1">
                <a:solidFill>
                  <a:srgbClr val="37804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000" b="1" dirty="0" err="1">
                <a:solidFill>
                  <a:srgbClr val="F0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06001-1EBA-BC90-139A-644A74C1308A}"/>
              </a:ext>
            </a:extLst>
          </p:cNvPr>
          <p:cNvSpPr txBox="1"/>
          <p:nvPr/>
        </p:nvSpPr>
        <p:spPr>
          <a:xfrm>
            <a:off x="2137172" y="4665725"/>
            <a:ext cx="7917655" cy="6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5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YOU COMMIT TO DO</a:t>
            </a:r>
            <a:endParaRPr lang="en-US" sz="3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059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883E-5C7A-FE37-0797-90B8D011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EBCB17-B8B8-9271-C57B-E51BB8F5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5671" y="-593568"/>
            <a:ext cx="4368398" cy="4368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DA74E3-D114-A08F-BD0F-FBD949A9E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485" y="3098548"/>
            <a:ext cx="1193590" cy="11935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AB3FF0-5492-7F0B-69B2-2BB2A57DA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5797" y="2193270"/>
            <a:ext cx="1205902" cy="12059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33BF21-C0BC-1EC9-4220-CD5C05415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797" y="4925232"/>
            <a:ext cx="1193590" cy="11935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C8AE75-E565-1184-A0B7-5911B88D70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1173" y="3998715"/>
            <a:ext cx="1193590" cy="11935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64187C-F712-8DE7-29E4-D85C579EAD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1173" y="5779708"/>
            <a:ext cx="1193590" cy="11935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0BB921-46CD-AABE-B53F-C2D8EEA4A763}"/>
              </a:ext>
            </a:extLst>
          </p:cNvPr>
          <p:cNvSpPr txBox="1"/>
          <p:nvPr/>
        </p:nvSpPr>
        <p:spPr>
          <a:xfrm>
            <a:off x="1041368" y="2144781"/>
            <a:ext cx="3930203" cy="458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INVITE</a:t>
            </a:r>
            <a:endParaRPr lang="en-US" sz="5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REALITY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OPTIONS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688B8-0D58-4463-1B81-EC2E7401C84C}"/>
              </a:ext>
            </a:extLst>
          </p:cNvPr>
          <p:cNvSpPr txBox="1"/>
          <p:nvPr/>
        </p:nvSpPr>
        <p:spPr>
          <a:xfrm>
            <a:off x="2837792" y="994379"/>
            <a:ext cx="95880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Discovery Bible Study</a:t>
            </a:r>
            <a:endParaRPr 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661AD-104F-7F06-2D8B-DAD489A982BB}"/>
              </a:ext>
            </a:extLst>
          </p:cNvPr>
          <p:cNvSpPr txBox="1"/>
          <p:nvPr/>
        </p:nvSpPr>
        <p:spPr>
          <a:xfrm>
            <a:off x="4314913" y="2049576"/>
            <a:ext cx="765692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Review– Discussion of What are you thankful for? Struggling with? </a:t>
            </a:r>
          </a:p>
          <a:p>
            <a:r>
              <a:rPr lang="en-US" sz="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3000" b="1" dirty="0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Scripture chosen to Grow as Disciple</a:t>
            </a:r>
          </a:p>
          <a:p>
            <a:endParaRPr lang="en-US" sz="3200" b="1" dirty="0">
              <a:solidFill>
                <a:srgbClr val="C2171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about God &amp; People</a:t>
            </a:r>
          </a:p>
          <a:p>
            <a:endParaRPr lang="en-US" sz="3500" b="1" dirty="0">
              <a:solidFill>
                <a:srgbClr val="51A3B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Ways it Apply in our lives</a:t>
            </a:r>
          </a:p>
          <a:p>
            <a:endParaRPr lang="en-US" sz="3500" b="1" dirty="0">
              <a:solidFill>
                <a:srgbClr val="3680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000" b="1" dirty="0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Will statements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DBD29-5D7D-69BD-8A1A-AC5F89912DC3}"/>
              </a:ext>
            </a:extLst>
          </p:cNvPr>
          <p:cNvSpPr txBox="1"/>
          <p:nvPr/>
        </p:nvSpPr>
        <p:spPr>
          <a:xfrm>
            <a:off x="2010907" y="224938"/>
            <a:ext cx="3373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Similarities</a:t>
            </a:r>
            <a:endParaRPr lang="en-US" sz="4400" dirty="0">
              <a:solidFill>
                <a:srgbClr val="C2171B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5B51EB-A478-66EF-3A59-450FD0AC8ECB}"/>
              </a:ext>
            </a:extLst>
          </p:cNvPr>
          <p:cNvCxnSpPr/>
          <p:nvPr/>
        </p:nvCxnSpPr>
        <p:spPr>
          <a:xfrm>
            <a:off x="3694921" y="1194318"/>
            <a:ext cx="0" cy="553389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00457-23BA-F258-DBEE-C686E500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151" y="1164630"/>
            <a:ext cx="3963691" cy="3963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10" y="4697434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INVITE IN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025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463767"/>
            <a:ext cx="9142600" cy="1930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 QUESTIONS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LAUNCH </a:t>
            </a:r>
            <a:r>
              <a:rPr lang="en-US" sz="5000" b="1" u="sng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INVITE</a:t>
            </a:r>
            <a:endParaRPr lang="en-US" sz="50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88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273687" y="1555987"/>
            <a:ext cx="8344151" cy="3746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a few reasons for you to be thankful?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big in your life at the moment?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have you been learning recently?</a:t>
            </a:r>
          </a:p>
        </p:txBody>
      </p:sp>
    </p:spTree>
    <p:extLst>
      <p:ext uri="{BB962C8B-B14F-4D97-AF65-F5344CB8AC3E}">
        <p14:creationId xmlns:p14="http://schemas.microsoft.com/office/powerpoint/2010/main" val="1315737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970316"/>
            <a:ext cx="9142600" cy="917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INVITE GOD</a:t>
            </a:r>
            <a:endParaRPr lang="en-US" sz="50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364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2081212" y="3055802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RAPPORT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639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2081212" y="3055802"/>
            <a:ext cx="80295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PREPARING YOUR INNER WORLD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723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273687" y="1555987"/>
            <a:ext cx="8344151" cy="438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am I feeling right now?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do I want to lay down?       (a burden or negative thought)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can I be grateful for today?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my 2 positive words for this coaching session?                  </a:t>
            </a:r>
            <a:r>
              <a:rPr lang="en-US" sz="35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(for example: calm and alert)</a:t>
            </a:r>
          </a:p>
        </p:txBody>
      </p:sp>
    </p:spTree>
    <p:extLst>
      <p:ext uri="{BB962C8B-B14F-4D97-AF65-F5344CB8AC3E}">
        <p14:creationId xmlns:p14="http://schemas.microsoft.com/office/powerpoint/2010/main" val="3928494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2081212" y="3055802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MIRRORING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142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273687" y="1555987"/>
            <a:ext cx="8344151" cy="37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gives you joy at the moment in ministry?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overall vision you desire to become reality?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itchFamily="2" charset="2"/>
              <a:buChar char=""/>
            </a:pPr>
            <a:r>
              <a:rPr lang="en-US" sz="35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priorities do you see in your ministry in the next 3 months?</a:t>
            </a:r>
          </a:p>
        </p:txBody>
      </p:sp>
    </p:spTree>
    <p:extLst>
      <p:ext uri="{BB962C8B-B14F-4D97-AF65-F5344CB8AC3E}">
        <p14:creationId xmlns:p14="http://schemas.microsoft.com/office/powerpoint/2010/main" val="810564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C93E9-7033-6E64-5026-B2545CCF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2081212" y="3055802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ENGAGED LISTENING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29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4D4820-8031-28E9-2EBA-A7BF11DE287D}"/>
              </a:ext>
            </a:extLst>
          </p:cNvPr>
          <p:cNvSpPr txBox="1"/>
          <p:nvPr/>
        </p:nvSpPr>
        <p:spPr>
          <a:xfrm>
            <a:off x="2581835" y="860432"/>
            <a:ext cx="8910917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some of the following questions to practice engaged listening through questions that build a positive atmosphere and empower the other. By empowering we mean, a state of ‘I can do this!’ 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604D7-B4FC-B80A-34DE-ED4712081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208" y="-363523"/>
            <a:ext cx="3578157" cy="3578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95F23-5B75-AB4B-E84E-219411550E3B}"/>
              </a:ext>
            </a:extLst>
          </p:cNvPr>
          <p:cNvSpPr txBox="1"/>
          <p:nvPr/>
        </p:nvSpPr>
        <p:spPr>
          <a:xfrm>
            <a:off x="2581835" y="2640628"/>
            <a:ext cx="7727577" cy="359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have you loved about the last 6 months?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have you achieved or accomplished in the last 6 months?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have you done that you would like to do again?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some of the empowering decisions that you made in the last 6 months?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one thing you found extremely difficult at the time that you have achieved?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itchFamily="2" charset="2"/>
              <a:buChar char=""/>
            </a:pPr>
            <a:r>
              <a:rPr lang="en-US" sz="2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you feel now having thought about these empowering areas?</a:t>
            </a:r>
          </a:p>
        </p:txBody>
      </p:sp>
    </p:spTree>
    <p:extLst>
      <p:ext uri="{BB962C8B-B14F-4D97-AF65-F5344CB8AC3E}">
        <p14:creationId xmlns:p14="http://schemas.microsoft.com/office/powerpoint/2010/main" val="3453891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B3322C-6ABB-373C-3F1A-1A79081CF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151" y="1164630"/>
            <a:ext cx="3963690" cy="3963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10" y="4697434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</a:t>
            </a:r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77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463767"/>
            <a:ext cx="9142600" cy="1930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 QUESTIONS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LAUNCH </a:t>
            </a:r>
            <a:r>
              <a:rPr lang="en-US" sz="5000" b="1" u="sng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</a:t>
            </a:r>
            <a:endParaRPr lang="en-US" sz="5000" u="sng" dirty="0">
              <a:solidFill>
                <a:srgbClr val="C2171B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23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799605" y="2136016"/>
            <a:ext cx="10592789" cy="4029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would you like to work on today?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would make our time together valuable to you?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would you like to take away from this conversation?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would you like to evaluate today?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benefits to seeing this happen?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do you hope to accomplish by the end of our time together?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would you state in one sentence what you want to see happen?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5D3A22-C977-8724-4489-142515F8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14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164551"/>
            <a:ext cx="914260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PASSION: </a:t>
            </a:r>
          </a:p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TOUCHES YOUR EMOTIONS?</a:t>
            </a:r>
            <a:endParaRPr lang="en-US" sz="5000" dirty="0"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751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021339"/>
            <a:ext cx="9142600" cy="281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ENERGY: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EXCITING TO DO AND FEEDS YOUR JOY?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53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021339"/>
            <a:ext cx="9142600" cy="281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FULFILLMENT:</a:t>
            </a:r>
            <a:endParaRPr lang="en-US" sz="5000" b="1" dirty="0">
              <a:solidFill>
                <a:srgbClr val="C2171B"/>
              </a:solidFill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BRINGS YOU MOST SATISFACTION?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089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1995767"/>
            <a:ext cx="9142600" cy="370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CONTRIBUTION: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PART IN CHANGING THE WORLD FOR THE BETTER?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498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1995767"/>
            <a:ext cx="9142600" cy="370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REGRETS: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ANTICIPATING WHAT YOU DO NOT WANT TO HAPPEN MOTIVATES US.</a:t>
            </a:r>
            <a:endParaRPr lang="en-US" sz="5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09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5205-CA9E-39F8-616E-05CF219C2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359826"/>
            <a:ext cx="9142600" cy="265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i="0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EVALUATE THE GOALS SET ACCORDING TO VISION AND VALUES</a:t>
            </a:r>
            <a:endParaRPr lang="en-US" sz="5000" b="1" dirty="0">
              <a:solidFill>
                <a:srgbClr val="C2171B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16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273687" y="1269117"/>
            <a:ext cx="8344151" cy="447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important is it to you to reach this GOAL?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goes on inside of you when you think about reaching this GOAL? 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enthusiastic are you about this GOAL?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could you do to increase your confidence about this GOAL?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would need to change to make this goal more desirable?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itchFamily="2" charset="2"/>
              <a:buChar char=""/>
            </a:pPr>
            <a:r>
              <a:rPr lang="en-US" sz="2500" b="1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well is this value reflected in your ministry right now?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5D3A22-C977-8724-4489-142515F8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3" y="133181"/>
            <a:ext cx="2807244" cy="280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29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4D04C3-7D75-6422-6438-2CA4B7384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151" y="1164631"/>
            <a:ext cx="3963689" cy="3963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10" y="4697434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REALITY</a:t>
            </a:r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987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4D8DC-8309-4D45-CE15-1B81A27C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2" y="133181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463767"/>
            <a:ext cx="9142600" cy="1930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 QUESTIONS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LAUNCH </a:t>
            </a:r>
            <a:r>
              <a:rPr lang="en-US" sz="5000" b="1" u="sng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REALITY</a:t>
            </a:r>
            <a:endParaRPr lang="en-US" sz="5000" u="sng" dirty="0">
              <a:solidFill>
                <a:srgbClr val="51A3B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3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273687" y="1932505"/>
            <a:ext cx="8618458" cy="358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God most powerfully at work and we need to </a:t>
            </a:r>
            <a:r>
              <a:rPr lang="en-US" sz="2500" b="1" dirty="0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</a:t>
            </a:r>
            <a:r>
              <a:rPr lang="en-US" sz="25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joining Him more in what He is doing?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healthy spiritual DNA displayed and transferred most strongly that we can celebrate?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are deficiencies of healthy spiritual DNA that need addressing?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mission drift happening that needs course-correcting?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256AE2-7842-CE09-4161-2BDFDBC3C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2" y="133181"/>
            <a:ext cx="2807245" cy="280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24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812413" y="4330145"/>
            <a:ext cx="10578662" cy="2369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are </a:t>
            </a:r>
            <a:r>
              <a:rPr lang="en-US" sz="3300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deficiencies</a:t>
            </a: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healthy spiritual DNA that need addressing?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</a:t>
            </a:r>
            <a:r>
              <a:rPr lang="en-US" sz="3300" dirty="0">
                <a:solidFill>
                  <a:srgbClr val="C2171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drift </a:t>
            </a: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happening that needs course-correcting?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256AE2-7842-CE09-4161-2BDFDBC3C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3943" y="-216325"/>
            <a:ext cx="2429482" cy="2429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E491F-6169-1ABA-EFCD-B929639631FC}"/>
              </a:ext>
            </a:extLst>
          </p:cNvPr>
          <p:cNvSpPr txBox="1"/>
          <p:nvPr/>
        </p:nvSpPr>
        <p:spPr>
          <a:xfrm>
            <a:off x="812413" y="1960906"/>
            <a:ext cx="9556206" cy="2936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</a:t>
            </a:r>
            <a:r>
              <a:rPr lang="en-US" sz="3300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God </a:t>
            </a: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powerfully at work and we 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need to </a:t>
            </a:r>
            <a:r>
              <a:rPr lang="en-US" sz="3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 </a:t>
            </a:r>
            <a:r>
              <a:rPr lang="en-US" sz="3300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joining Him </a:t>
            </a: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what He is doing?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healthy spiritual </a:t>
            </a:r>
            <a:r>
              <a:rPr lang="en-US" sz="3300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DNA</a:t>
            </a: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especially 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displayed and transferred that we can celebrate?</a:t>
            </a:r>
          </a:p>
          <a:p>
            <a:endParaRPr lang="en-US" sz="3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C7FC0-53D9-9C02-9FF2-8DC23268CB0C}"/>
              </a:ext>
            </a:extLst>
          </p:cNvPr>
          <p:cNvSpPr txBox="1"/>
          <p:nvPr/>
        </p:nvSpPr>
        <p:spPr>
          <a:xfrm>
            <a:off x="1814436" y="554608"/>
            <a:ext cx="9142600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BROAD </a:t>
            </a: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 </a:t>
            </a:r>
          </a:p>
        </p:txBody>
      </p:sp>
    </p:spTree>
    <p:extLst>
      <p:ext uri="{BB962C8B-B14F-4D97-AF65-F5344CB8AC3E}">
        <p14:creationId xmlns:p14="http://schemas.microsoft.com/office/powerpoint/2010/main" val="410687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4D8DC-8309-4D45-CE15-1B81A27C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2" y="133181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527887"/>
            <a:ext cx="9142600" cy="18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DMM EVALUATION QUESTIONS</a:t>
            </a:r>
            <a:endParaRPr lang="en-US" sz="5000" u="sng" dirty="0">
              <a:solidFill>
                <a:srgbClr val="51A3B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307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B07A-9FD8-11F8-A4CA-68A70412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526665-658A-0DA2-5EB3-C2B3D7DE1D76}"/>
              </a:ext>
            </a:extLst>
          </p:cNvPr>
          <p:cNvSpPr txBox="1"/>
          <p:nvPr/>
        </p:nvSpPr>
        <p:spPr>
          <a:xfrm>
            <a:off x="260625" y="1680477"/>
            <a:ext cx="12401857" cy="5312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PRAYER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abundant is prayer and fasting? 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COMPASSION MINISTRY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is compassion &amp; authentic relationships 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received in the community?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PERSONS OF PEACE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have people of peace been found &amp; mentored?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DISCOVERY GROUPS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en-US" sz="1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have new discovery groups started &amp; multiplied?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OBEDIENCE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obedience-focused has the disciple-making been?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CHURCH GATHERINGS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does the community life model a kingdom lifestyle?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DISCIPLE REPLICATION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have disciples been replicated?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LEADER DEVELOPMENT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are indigenous leaders being developed?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CHURCHES REPRODUCING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are churches being multiplied?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5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EVALUATION</a:t>
            </a:r>
            <a:r>
              <a:rPr lang="en-US" sz="25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2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well are shepherds coached to evaluate their churches?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5F6CD-B864-8F42-C09F-DD6DA9176CA4}"/>
              </a:ext>
            </a:extLst>
          </p:cNvPr>
          <p:cNvSpPr txBox="1"/>
          <p:nvPr/>
        </p:nvSpPr>
        <p:spPr>
          <a:xfrm>
            <a:off x="2005599" y="550696"/>
            <a:ext cx="9925776" cy="168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52A3B8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REALITY - </a:t>
            </a:r>
            <a:r>
              <a:rPr lang="en-US" sz="35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DMM EVALUATION QUESTIONS: 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52A3B8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5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2EC09-25AD-BD4D-47F6-FC8ED822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46" y="-394444"/>
            <a:ext cx="2432634" cy="243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3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4D8DC-8309-4D45-CE15-1B81A27C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2" y="133181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527887"/>
            <a:ext cx="9142600" cy="18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000" b="1" dirty="0">
                <a:solidFill>
                  <a:srgbClr val="51A3B9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ANGLES TO GAIN A 360 VIEW OF A SITUATION</a:t>
            </a:r>
            <a:endParaRPr lang="en-US" sz="5000" dirty="0">
              <a:solidFill>
                <a:srgbClr val="51A3B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822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3537-FCC1-BCF4-0AF2-C62CF61B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99F82-8D39-60AF-24F1-5C4F9BCE3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3943" y="-216325"/>
            <a:ext cx="2429482" cy="2429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423671-F571-94F4-827B-2EAE7C3D5E38}"/>
              </a:ext>
            </a:extLst>
          </p:cNvPr>
          <p:cNvSpPr txBox="1"/>
          <p:nvPr/>
        </p:nvSpPr>
        <p:spPr>
          <a:xfrm>
            <a:off x="371163" y="2370812"/>
            <a:ext cx="11582145" cy="49090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500" b="1" dirty="0"/>
              <a:t>GOD –         </a:t>
            </a:r>
            <a:r>
              <a:rPr lang="en-US" sz="3500" dirty="0"/>
              <a:t>What does God’s word say, or what has God spoken</a:t>
            </a:r>
          </a:p>
          <a:p>
            <a:pPr lvl="0"/>
            <a:r>
              <a:rPr lang="en-US" sz="3500" dirty="0"/>
              <a:t>                     in the past that might be relevant for this situation?</a:t>
            </a:r>
          </a:p>
          <a:p>
            <a:pPr lvl="0"/>
            <a:r>
              <a:rPr lang="en-US" sz="3500" b="1" dirty="0"/>
              <a:t>FACTORS</a:t>
            </a:r>
            <a:r>
              <a:rPr lang="en-US" sz="3500" dirty="0"/>
              <a:t> – What are the factors that led up to this </a:t>
            </a:r>
          </a:p>
          <a:p>
            <a:pPr lvl="0"/>
            <a:r>
              <a:rPr lang="en-US" sz="3500" dirty="0"/>
              <a:t>                     situation?</a:t>
            </a:r>
          </a:p>
          <a:p>
            <a:pPr lvl="0"/>
            <a:r>
              <a:rPr lang="en-US" sz="3500" b="1" dirty="0"/>
              <a:t>EXAMPLES </a:t>
            </a:r>
            <a:r>
              <a:rPr lang="en-US" sz="3500" b="1" strike="sngStrike" dirty="0"/>
              <a:t> </a:t>
            </a:r>
            <a:r>
              <a:rPr lang="en-US" sz="3500" dirty="0"/>
              <a:t>What have you tried already, and what difference </a:t>
            </a:r>
          </a:p>
          <a:p>
            <a:pPr lvl="0"/>
            <a:r>
              <a:rPr lang="en-US" sz="3500" dirty="0"/>
              <a:t>                      have these attempts made?</a:t>
            </a:r>
          </a:p>
          <a:p>
            <a:pPr lvl="0"/>
            <a:r>
              <a:rPr lang="en-US" sz="3500" b="1" dirty="0"/>
              <a:t>FEELINGS - </a:t>
            </a:r>
            <a:r>
              <a:rPr lang="en-US" sz="3500" dirty="0"/>
              <a:t>What are the relational dynamics at play in this </a:t>
            </a:r>
          </a:p>
          <a:p>
            <a:pPr lvl="0"/>
            <a:r>
              <a:rPr lang="en-US" sz="3500" dirty="0"/>
              <a:t>                       situation?</a:t>
            </a:r>
          </a:p>
          <a:p>
            <a:endParaRPr lang="en-US" sz="3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7E720-2220-4903-ED5D-006E2187762F}"/>
              </a:ext>
            </a:extLst>
          </p:cNvPr>
          <p:cNvSpPr txBox="1"/>
          <p:nvPr/>
        </p:nvSpPr>
        <p:spPr>
          <a:xfrm>
            <a:off x="1908602" y="554608"/>
            <a:ext cx="9142600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 – 360</a:t>
            </a:r>
            <a:r>
              <a:rPr lang="en-US" sz="50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0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200917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C9ED41-E53B-750E-2EA9-147E2EF8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16" y="1164630"/>
            <a:ext cx="3963689" cy="3963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10" y="4697434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OPTIONS</a:t>
            </a:r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615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827EA0-236A-0179-5C25-29A2F026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1" y="133180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463767"/>
            <a:ext cx="9142600" cy="1930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 QUESTIONS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LAUNCH </a:t>
            </a:r>
            <a:r>
              <a:rPr lang="en-US" sz="5000" b="1" u="sng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OPTIONS</a:t>
            </a:r>
            <a:endParaRPr lang="en-US" sz="5000" u="sng" dirty="0">
              <a:solidFill>
                <a:srgbClr val="36803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5256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374977" y="1981404"/>
            <a:ext cx="9099060" cy="264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would help you move forward?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ways forward toward your desirable GOAL?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needs to be done to take this forward?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can you bridge the gap between the present situation and the desirable future?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6228C-0758-05AD-30EB-957FD86D7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1" y="133180"/>
            <a:ext cx="2807245" cy="280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00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827EA0-236A-0179-5C25-29A2F026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1" y="133180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527887"/>
            <a:ext cx="9142600" cy="18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0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OPTIONS TO EXPLORE WAYS FORWARD</a:t>
            </a:r>
            <a:endParaRPr lang="en-US" sz="5000" dirty="0">
              <a:solidFill>
                <a:srgbClr val="36803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748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827EA0-236A-0179-5C25-29A2F026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1" y="133180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527887"/>
            <a:ext cx="9142600" cy="18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 QUESTIONS FOR RESOURCES</a:t>
            </a:r>
            <a:endParaRPr lang="en-US" sz="5000" dirty="0">
              <a:solidFill>
                <a:srgbClr val="36803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89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556054" y="1178456"/>
            <a:ext cx="10540313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resources needed?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can you mobilize these resources?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competencies are needed to take this forward?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are the people who have these competencies?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materials needed?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finances needed?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unique contribution you can make to address this?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much personal capacity will you have to work on this?</a:t>
            </a:r>
            <a:endParaRPr lang="en-US" sz="2500" b="1" dirty="0">
              <a:solidFill>
                <a:srgbClr val="36803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36803F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does your family situation need to be considered?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6228C-0758-05AD-30EB-957FD86D7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1" y="133180"/>
            <a:ext cx="2807245" cy="280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693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59B1CE-EFE7-851C-16DB-8A83294F3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16" y="1164630"/>
            <a:ext cx="3963688" cy="3963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10" y="4697434"/>
            <a:ext cx="80295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DO </a:t>
            </a:r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endParaRPr lang="en-US" sz="5000" b="1" dirty="0">
              <a:solidFill>
                <a:srgbClr val="EF7B2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3140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8A9-53EC-8505-86BC-337AA8B1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463767"/>
            <a:ext cx="9142600" cy="1930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 QUESTIONS 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LAUNCH </a:t>
            </a:r>
            <a:r>
              <a:rPr lang="en-US" sz="5000" b="1" u="sng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DO</a:t>
            </a:r>
            <a:endParaRPr lang="en-US" sz="5000" u="sng" dirty="0">
              <a:solidFill>
                <a:srgbClr val="EF7B2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3669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191490" y="1507256"/>
            <a:ext cx="9056914" cy="384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these insights above inform your strategy 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dirty="0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sz="25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the next few months?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a few specific steps that you want to take to move toward your desirable GOAL?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were to pray for one thing, what will that be?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specific steps you are committing to take until we talk next time? [in a quarterly evaluation conversation: in the next three months]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C0CC8-6594-5367-6318-1766CFE2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279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8A9-53EC-8505-86BC-337AA8B1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2968833"/>
            <a:ext cx="9142600" cy="917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 R’s TO ACTION</a:t>
            </a:r>
            <a:endParaRPr lang="en-US" sz="5000" u="sng" dirty="0">
              <a:solidFill>
                <a:srgbClr val="EF7B2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6002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8A9-53EC-8505-86BC-337AA8B1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34EA8C-FF6B-0E06-569B-A8F3669EB0BB}"/>
              </a:ext>
            </a:extLst>
          </p:cNvPr>
          <p:cNvSpPr txBox="1"/>
          <p:nvPr/>
        </p:nvSpPr>
        <p:spPr>
          <a:xfrm>
            <a:off x="1524700" y="1953275"/>
            <a:ext cx="9142600" cy="295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u="sng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RANK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chemeClr val="bg1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RATE</a:t>
            </a:r>
            <a:endParaRPr lang="en-US" sz="5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1737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8A9-53EC-8505-86BC-337AA8B1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319255-258F-6620-A678-089E8C63FF25}"/>
              </a:ext>
            </a:extLst>
          </p:cNvPr>
          <p:cNvSpPr txBox="1"/>
          <p:nvPr/>
        </p:nvSpPr>
        <p:spPr>
          <a:xfrm>
            <a:off x="1524700" y="1953275"/>
            <a:ext cx="9142600" cy="295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RANK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u="sng" dirty="0">
                <a:solidFill>
                  <a:srgbClr val="EF7B2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RATE</a:t>
            </a:r>
            <a:endParaRPr lang="en-US" sz="5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130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8A9-53EC-8505-86BC-337AA8B1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FB57-4A4E-7471-CBB2-5953A7BA1EEE}"/>
              </a:ext>
            </a:extLst>
          </p:cNvPr>
          <p:cNvSpPr txBox="1"/>
          <p:nvPr/>
        </p:nvSpPr>
        <p:spPr>
          <a:xfrm>
            <a:off x="1524700" y="1953275"/>
            <a:ext cx="9142600" cy="295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RANK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dirty="0">
                <a:solidFill>
                  <a:srgbClr val="EF7B2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5000" b="1" u="sng" dirty="0">
                <a:solidFill>
                  <a:srgbClr val="EF7B2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RATE</a:t>
            </a:r>
            <a:endParaRPr lang="en-US" sz="5000" u="sng" dirty="0">
              <a:solidFill>
                <a:srgbClr val="EF7B2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109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8A9-53EC-8505-86BC-337AA8B1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00" y="133180"/>
            <a:ext cx="2807245" cy="28072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BC26EE-46BF-D6E0-B4E9-26B1F9FA39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1" r="56924" b="31927"/>
          <a:stretch/>
        </p:blipFill>
        <p:spPr bwMode="auto">
          <a:xfrm>
            <a:off x="3246568" y="896171"/>
            <a:ext cx="5698864" cy="50656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330700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0183A-37BC-AB6F-D7E8-1D2DE9772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76" y="242479"/>
            <a:ext cx="4714037" cy="4714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08" y="4427779"/>
            <a:ext cx="80295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CHECKLISTS FOR </a:t>
            </a:r>
            <a:r>
              <a:rPr lang="en-US" sz="5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5000" b="1" dirty="0" err="1">
                <a:solidFill>
                  <a:srgbClr val="C217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5000" b="1" dirty="0" err="1">
                <a:solidFill>
                  <a:srgbClr val="51A3B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5000" b="1" dirty="0" err="1">
                <a:solidFill>
                  <a:srgbClr val="36803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sz="5000" b="1" dirty="0" err="1">
                <a:solidFill>
                  <a:srgbClr val="EF7B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COACHES</a:t>
            </a:r>
          </a:p>
        </p:txBody>
      </p:sp>
    </p:spTree>
    <p:extLst>
      <p:ext uri="{BB962C8B-B14F-4D97-AF65-F5344CB8AC3E}">
        <p14:creationId xmlns:p14="http://schemas.microsoft.com/office/powerpoint/2010/main" val="5454960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0183A-37BC-AB6F-D7E8-1D2DE9772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76" y="242479"/>
            <a:ext cx="4714037" cy="4714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08" y="4427779"/>
            <a:ext cx="80295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WILL I BE COACHING?</a:t>
            </a:r>
          </a:p>
        </p:txBody>
      </p:sp>
    </p:spTree>
    <p:extLst>
      <p:ext uri="{BB962C8B-B14F-4D97-AF65-F5344CB8AC3E}">
        <p14:creationId xmlns:p14="http://schemas.microsoft.com/office/powerpoint/2010/main" val="16306629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0183A-37BC-AB6F-D7E8-1D2DE9772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76" y="242479"/>
            <a:ext cx="4714037" cy="4714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1C9F-0B9B-21D1-4701-4211814E92EA}"/>
              </a:ext>
            </a:extLst>
          </p:cNvPr>
          <p:cNvSpPr txBox="1"/>
          <p:nvPr/>
        </p:nvSpPr>
        <p:spPr>
          <a:xfrm>
            <a:off x="2081208" y="4427779"/>
            <a:ext cx="80295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PREPARE FOR A COACHING SESSION</a:t>
            </a:r>
          </a:p>
        </p:txBody>
      </p:sp>
    </p:spTree>
    <p:extLst>
      <p:ext uri="{BB962C8B-B14F-4D97-AF65-F5344CB8AC3E}">
        <p14:creationId xmlns:p14="http://schemas.microsoft.com/office/powerpoint/2010/main" val="4039373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3177</TotalTime>
  <Words>1943</Words>
  <Application>Microsoft Macintosh PowerPoint</Application>
  <PresentationFormat>Widescreen</PresentationFormat>
  <Paragraphs>267</Paragraphs>
  <Slides>66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-webkit-standard</vt:lpstr>
      <vt:lpstr>Aptos</vt:lpstr>
      <vt:lpstr>Arial</vt:lpstr>
      <vt:lpstr>Calibri</vt:lpstr>
      <vt:lpstr>Calibri Light</vt:lpstr>
      <vt:lpstr>Open Sans</vt:lpstr>
      <vt:lpstr>Symbol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SUBTITLE: The 307  Questions JESUS  ASKED &amp; the 3  That He answered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 Heaton</dc:creator>
  <cp:lastModifiedBy>Lance</cp:lastModifiedBy>
  <cp:revision>16</cp:revision>
  <dcterms:created xsi:type="dcterms:W3CDTF">2022-04-20T16:34:47Z</dcterms:created>
  <dcterms:modified xsi:type="dcterms:W3CDTF">2025-04-02T20:49:50Z</dcterms:modified>
</cp:coreProperties>
</file>